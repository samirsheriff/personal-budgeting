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1"/>
  </p:notesMasterIdLst>
  <p:handoutMasterIdLst>
    <p:handoutMasterId r:id="rId22"/>
  </p:handoutMasterIdLst>
  <p:sldIdLst>
    <p:sldId id="256" r:id="rId5"/>
    <p:sldId id="257" r:id="rId6"/>
    <p:sldId id="286" r:id="rId7"/>
    <p:sldId id="299" r:id="rId8"/>
    <p:sldId id="303" r:id="rId9"/>
    <p:sldId id="291" r:id="rId10"/>
    <p:sldId id="289" r:id="rId11"/>
    <p:sldId id="300" r:id="rId12"/>
    <p:sldId id="290" r:id="rId13"/>
    <p:sldId id="301" r:id="rId14"/>
    <p:sldId id="302" r:id="rId15"/>
    <p:sldId id="305" r:id="rId16"/>
    <p:sldId id="304" r:id="rId17"/>
    <p:sldId id="306" r:id="rId18"/>
    <p:sldId id="307" r:id="rId19"/>
    <p:sldId id="296"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646" autoAdjust="0"/>
  </p:normalViewPr>
  <p:slideViewPr>
    <p:cSldViewPr snapToGrid="0">
      <p:cViewPr varScale="1">
        <p:scale>
          <a:sx n="75" d="100"/>
          <a:sy n="75" d="100"/>
        </p:scale>
        <p:origin x="902" y="53"/>
      </p:cViewPr>
      <p:guideLst/>
    </p:cSldViewPr>
  </p:slideViewPr>
  <p:outlineViewPr>
    <p:cViewPr>
      <p:scale>
        <a:sx n="33" d="100"/>
        <a:sy n="33" d="100"/>
      </p:scale>
      <p:origin x="0" y="-5760"/>
    </p:cViewPr>
  </p:outlineViewPr>
  <p:notesTextViewPr>
    <p:cViewPr>
      <p:scale>
        <a:sx n="1" d="1"/>
        <a:sy n="1" d="1"/>
      </p:scale>
      <p:origin x="0" y="0"/>
    </p:cViewPr>
  </p:notesTextViewPr>
  <p:sorterViewPr>
    <p:cViewPr varScale="1">
      <p:scale>
        <a:sx n="100" d="100"/>
        <a:sy n="100" d="100"/>
      </p:scale>
      <p:origin x="0" y="-7325"/>
    </p:cViewPr>
  </p:sorterViewPr>
  <p:notesViewPr>
    <p:cSldViewPr snapToGrid="0">
      <p:cViewPr varScale="1">
        <p:scale>
          <a:sx n="58" d="100"/>
          <a:sy n="58" d="100"/>
        </p:scale>
        <p:origin x="2371"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FB8B65A-D69F-C26C-B67E-036EF77BF1F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652B9064-AE57-427F-E5AF-71DE7D52FE6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D8190EA-5EEC-4300-B6AE-D9734C6C648E}" type="datetimeFigureOut">
              <a:rPr lang="en-US" smtClean="0"/>
              <a:t>5/11/2025</a:t>
            </a:fld>
            <a:endParaRPr lang="en-US" dirty="0"/>
          </a:p>
        </p:txBody>
      </p:sp>
      <p:sp>
        <p:nvSpPr>
          <p:cNvPr id="4" name="Footer Placeholder 3">
            <a:extLst>
              <a:ext uri="{FF2B5EF4-FFF2-40B4-BE49-F238E27FC236}">
                <a16:creationId xmlns:a16="http://schemas.microsoft.com/office/drawing/2014/main" id="{8186157A-CEB9-B0FC-3A49-BE950AEAD6F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0819CA0-A57D-42D7-A625-56C22D0FA7C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AFF3A6F-DEFA-45E0-9496-BEE7C2C6F3D0}" type="slidenum">
              <a:rPr lang="en-US" smtClean="0"/>
              <a:t>‹#›</a:t>
            </a:fld>
            <a:endParaRPr lang="en-US" dirty="0"/>
          </a:p>
        </p:txBody>
      </p:sp>
    </p:spTree>
    <p:extLst>
      <p:ext uri="{BB962C8B-B14F-4D97-AF65-F5344CB8AC3E}">
        <p14:creationId xmlns:p14="http://schemas.microsoft.com/office/powerpoint/2010/main" val="14060022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87ADD9-2083-264C-A652-8D52D02F7E72}" type="datetimeFigureOut">
              <a:rPr lang="en-US" smtClean="0"/>
              <a:t>5/11/2025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7DC217-DF71-1A49-B3EA-559F1F43B0FF}" type="slidenum">
              <a:rPr lang="en-US" smtClean="0"/>
              <a:t>‹#›</a:t>
            </a:fld>
            <a:endParaRPr lang="en-US" dirty="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a:t>
            </a:fld>
            <a:endParaRPr lang="en-US" dirty="0"/>
          </a:p>
        </p:txBody>
      </p:sp>
    </p:spTree>
    <p:extLst>
      <p:ext uri="{BB962C8B-B14F-4D97-AF65-F5344CB8AC3E}">
        <p14:creationId xmlns:p14="http://schemas.microsoft.com/office/powerpoint/2010/main" val="21693858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2</a:t>
            </a:fld>
            <a:endParaRPr lang="en-US" dirty="0"/>
          </a:p>
        </p:txBody>
      </p:sp>
    </p:spTree>
    <p:extLst>
      <p:ext uri="{BB962C8B-B14F-4D97-AF65-F5344CB8AC3E}">
        <p14:creationId xmlns:p14="http://schemas.microsoft.com/office/powerpoint/2010/main" val="29152478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3</a:t>
            </a:fld>
            <a:endParaRPr lang="en-US" dirty="0"/>
          </a:p>
        </p:txBody>
      </p:sp>
    </p:spTree>
    <p:extLst>
      <p:ext uri="{BB962C8B-B14F-4D97-AF65-F5344CB8AC3E}">
        <p14:creationId xmlns:p14="http://schemas.microsoft.com/office/powerpoint/2010/main" val="19389489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4</a:t>
            </a:fld>
            <a:endParaRPr lang="en-US" dirty="0"/>
          </a:p>
        </p:txBody>
      </p:sp>
    </p:spTree>
    <p:extLst>
      <p:ext uri="{BB962C8B-B14F-4D97-AF65-F5344CB8AC3E}">
        <p14:creationId xmlns:p14="http://schemas.microsoft.com/office/powerpoint/2010/main" val="836963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5</a:t>
            </a:fld>
            <a:endParaRPr lang="en-US" dirty="0"/>
          </a:p>
        </p:txBody>
      </p:sp>
    </p:spTree>
    <p:extLst>
      <p:ext uri="{BB962C8B-B14F-4D97-AF65-F5344CB8AC3E}">
        <p14:creationId xmlns:p14="http://schemas.microsoft.com/office/powerpoint/2010/main" val="12572988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6</a:t>
            </a:fld>
            <a:endParaRPr lang="en-US" dirty="0"/>
          </a:p>
        </p:txBody>
      </p:sp>
    </p:spTree>
    <p:extLst>
      <p:ext uri="{BB962C8B-B14F-4D97-AF65-F5344CB8AC3E}">
        <p14:creationId xmlns:p14="http://schemas.microsoft.com/office/powerpoint/2010/main" val="9648444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7</a:t>
            </a:fld>
            <a:endParaRPr lang="en-US" dirty="0"/>
          </a:p>
        </p:txBody>
      </p:sp>
    </p:spTree>
    <p:extLst>
      <p:ext uri="{BB962C8B-B14F-4D97-AF65-F5344CB8AC3E}">
        <p14:creationId xmlns:p14="http://schemas.microsoft.com/office/powerpoint/2010/main" val="41947933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8</a:t>
            </a:fld>
            <a:endParaRPr lang="en-US" dirty="0"/>
          </a:p>
        </p:txBody>
      </p:sp>
    </p:spTree>
    <p:extLst>
      <p:ext uri="{BB962C8B-B14F-4D97-AF65-F5344CB8AC3E}">
        <p14:creationId xmlns:p14="http://schemas.microsoft.com/office/powerpoint/2010/main" val="37983129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9</a:t>
            </a:fld>
            <a:endParaRPr lang="en-US" dirty="0"/>
          </a:p>
        </p:txBody>
      </p:sp>
    </p:spTree>
    <p:extLst>
      <p:ext uri="{BB962C8B-B14F-4D97-AF65-F5344CB8AC3E}">
        <p14:creationId xmlns:p14="http://schemas.microsoft.com/office/powerpoint/2010/main" val="16390868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10</a:t>
            </a:fld>
            <a:endParaRPr lang="en-US" dirty="0"/>
          </a:p>
        </p:txBody>
      </p:sp>
    </p:spTree>
    <p:extLst>
      <p:ext uri="{BB962C8B-B14F-4D97-AF65-F5344CB8AC3E}">
        <p14:creationId xmlns:p14="http://schemas.microsoft.com/office/powerpoint/2010/main" val="4594046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11</a:t>
            </a:fld>
            <a:endParaRPr lang="en-US" dirty="0"/>
          </a:p>
        </p:txBody>
      </p:sp>
    </p:spTree>
    <p:extLst>
      <p:ext uri="{BB962C8B-B14F-4D97-AF65-F5344CB8AC3E}">
        <p14:creationId xmlns:p14="http://schemas.microsoft.com/office/powerpoint/2010/main" val="8212210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13</a:t>
            </a:fld>
            <a:endParaRPr lang="en-US" dirty="0"/>
          </a:p>
        </p:txBody>
      </p:sp>
    </p:spTree>
    <p:extLst>
      <p:ext uri="{BB962C8B-B14F-4D97-AF65-F5344CB8AC3E}">
        <p14:creationId xmlns:p14="http://schemas.microsoft.com/office/powerpoint/2010/main" val="37791129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97DC217-DF71-1A49-B3EA-559F1F43B0FF}" type="slidenum">
              <a:rPr lang="en-US" smtClean="0"/>
              <a:t>16</a:t>
            </a:fld>
            <a:endParaRPr lang="en-US" dirty="0"/>
          </a:p>
        </p:txBody>
      </p:sp>
    </p:spTree>
    <p:extLst>
      <p:ext uri="{BB962C8B-B14F-4D97-AF65-F5344CB8AC3E}">
        <p14:creationId xmlns:p14="http://schemas.microsoft.com/office/powerpoint/2010/main" val="399008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AC79249-FDC0-364D-A734-AE1DE1605D28}"/>
              </a:ext>
              <a:ext uri="{C183D7F6-B498-43B3-948B-1728B52AA6E4}">
                <adec:decorative xmlns:adec="http://schemas.microsoft.com/office/drawing/2017/decorative" val="1"/>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7" name="Group 6">
            <a:extLst>
              <a:ext uri="{FF2B5EF4-FFF2-40B4-BE49-F238E27FC236}">
                <a16:creationId xmlns:a16="http://schemas.microsoft.com/office/drawing/2014/main" id="{13537B6D-42A5-F449-2691-321A167F7C08}"/>
              </a:ext>
              <a:ext uri="{C183D7F6-B498-43B3-948B-1728B52AA6E4}">
                <adec:decorative xmlns:adec="http://schemas.microsoft.com/office/drawing/2017/decorative" val="1"/>
              </a:ext>
            </a:extLst>
          </p:cNvPr>
          <p:cNvGrpSpPr/>
          <p:nvPr userDrawn="1"/>
        </p:nvGrpSpPr>
        <p:grpSpPr>
          <a:xfrm>
            <a:off x="0" y="-3419"/>
            <a:ext cx="12192000" cy="6861419"/>
            <a:chOff x="0" y="-3419"/>
            <a:chExt cx="12192000" cy="6861419"/>
          </a:xfrm>
        </p:grpSpPr>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Freeform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8" name="Freeform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3" y="232913"/>
            <a:ext cx="7096933" cy="3830130"/>
          </a:xfrm>
        </p:spPr>
        <p:txBody>
          <a:bodyPr anchor="b">
            <a:noAutofit/>
          </a:bodyPr>
          <a:lstStyle>
            <a:lvl1pPr algn="l">
              <a:defRPr sz="6000" b="1">
                <a:latin typeface="+mj-lt"/>
              </a:defRPr>
            </a:lvl1pPr>
          </a:lstStyle>
          <a:p>
            <a:r>
              <a:rPr lang="en-US" dirty="0"/>
              <a:t>Click to add title</a:t>
            </a:r>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a:norm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782271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and Right Image">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flipH="1">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6" name="Freeform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71600"/>
            <a:ext cx="5486400" cy="4114800"/>
          </a:xfrm>
        </p:spPr>
        <p:txBody>
          <a:bodyPr anchor="ctr" anchorCtr="0">
            <a:noAutofit/>
          </a:bodyPr>
          <a:lstStyle>
            <a:lvl1pPr>
              <a:defRPr sz="6000" b="1">
                <a:latin typeface="+mj-lt"/>
              </a:defRPr>
            </a:lvl1pPr>
          </a:lstStyle>
          <a:p>
            <a:r>
              <a:rPr lang="en-US" dirty="0"/>
              <a:t>Click to add title</a:t>
            </a:r>
          </a:p>
        </p:txBody>
      </p:sp>
      <p:sp>
        <p:nvSpPr>
          <p:cNvPr id="15" name="Picture Placeholder 14">
            <a:extLst>
              <a:ext uri="{FF2B5EF4-FFF2-40B4-BE49-F238E27FC236}">
                <a16:creationId xmlns:a16="http://schemas.microsoft.com/office/drawing/2014/main" id="{3124234B-E1C4-2616-9993-A23142AA69B2}"/>
              </a:ext>
            </a:extLst>
          </p:cNvPr>
          <p:cNvSpPr>
            <a:spLocks noGrp="1"/>
          </p:cNvSpPr>
          <p:nvPr>
            <p:ph type="pic" sz="quarter" idx="10"/>
          </p:nvPr>
        </p:nvSpPr>
        <p:spPr>
          <a:xfrm>
            <a:off x="7183438" y="1168400"/>
            <a:ext cx="4500562" cy="4521200"/>
          </a:xfrm>
          <a:prstGeom prst="ellipse">
            <a:avLst/>
          </a:prstGeom>
          <a:solidFill>
            <a:schemeClr val="accent2"/>
          </a:solidFill>
        </p:spPr>
        <p:txBody>
          <a:bodyPr/>
          <a:lstStyle>
            <a:lvl1pPr marL="0" indent="0" algn="ctr">
              <a:buNone/>
              <a:defRPr sz="2000"/>
            </a:lvl1pPr>
          </a:lstStyle>
          <a:p>
            <a:r>
              <a:rPr lang="en-US"/>
              <a:t>Click icon to add picture</a:t>
            </a:r>
            <a:endParaRPr lang="en-US" dirty="0"/>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4912667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2">
    <p:bg>
      <p:bgPr>
        <a:solidFill>
          <a:schemeClr val="accent2"/>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CEDB282-8288-C81F-52B5-048A3E80C931}"/>
              </a:ext>
              <a:ext uri="{C183D7F6-B498-43B3-948B-1728B52AA6E4}">
                <adec:decorative xmlns:adec="http://schemas.microsoft.com/office/drawing/2017/decorative" val="1"/>
              </a:ext>
            </a:extLst>
          </p:cNvPr>
          <p:cNvGrpSpPr/>
          <p:nvPr userDrawn="1"/>
        </p:nvGrpSpPr>
        <p:grpSpPr>
          <a:xfrm>
            <a:off x="0" y="-1"/>
            <a:ext cx="12208822" cy="6858003"/>
            <a:chOff x="0" y="-1"/>
            <a:chExt cx="12208822" cy="6858003"/>
          </a:xfrm>
        </p:grpSpPr>
        <p:sp>
          <p:nvSpPr>
            <p:cNvPr id="7" name="Rectangle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3" name="Title 1">
            <a:extLst>
              <a:ext uri="{FF2B5EF4-FFF2-40B4-BE49-F238E27FC236}">
                <a16:creationId xmlns:a16="http://schemas.microsoft.com/office/drawing/2014/main" id="{5E932F0D-7FC3-634B-932C-3625C16C8DE2}"/>
              </a:ext>
            </a:extLst>
          </p:cNvPr>
          <p:cNvSpPr>
            <a:spLocks noGrp="1"/>
          </p:cNvSpPr>
          <p:nvPr>
            <p:ph type="title" hasCustomPrompt="1"/>
          </p:nvPr>
        </p:nvSpPr>
        <p:spPr>
          <a:xfrm>
            <a:off x="1167492" y="45085"/>
            <a:ext cx="9779183" cy="1600835"/>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CA1EED44-783E-8705-4119-D7E9F7D4F2B4}"/>
              </a:ext>
            </a:extLst>
          </p:cNvPr>
          <p:cNvSpPr>
            <a:spLocks noGrp="1"/>
          </p:cNvSpPr>
          <p:nvPr>
            <p:ph idx="14" hasCustomPrompt="1"/>
          </p:nvPr>
        </p:nvSpPr>
        <p:spPr>
          <a:xfrm>
            <a:off x="1166087" y="2652713"/>
            <a:ext cx="9780587" cy="3436936"/>
          </a:xfrm>
        </p:spPr>
        <p:txBody>
          <a:bodyPr>
            <a:normAutofit/>
          </a:bodyPr>
          <a:lstStyle>
            <a:lvl1pPr marL="342900" indent="-283464">
              <a:spcBef>
                <a:spcPts val="1000"/>
              </a:spcBef>
              <a:buFont typeface="Arial" panose="020B0604020202020204" pitchFamily="34" charset="0"/>
              <a:buChar char="•"/>
              <a:defRPr sz="2000">
                <a:solidFill>
                  <a:schemeClr val="bg1"/>
                </a:solidFill>
                <a:latin typeface="+mn-lt"/>
              </a:defRPr>
            </a:lvl1pPr>
            <a:lvl2pPr marL="566928" indent="-283464">
              <a:spcBef>
                <a:spcPts val="1000"/>
              </a:spcBef>
              <a:buFont typeface="Arial" panose="020B0604020202020204" pitchFamily="34" charset="0"/>
              <a:buChar char="•"/>
              <a:defRPr sz="2000">
                <a:solidFill>
                  <a:schemeClr val="bg1"/>
                </a:solidFill>
                <a:latin typeface="+mn-lt"/>
              </a:defRPr>
            </a:lvl2pPr>
            <a:lvl3pPr marL="850392" indent="-283464">
              <a:spcBef>
                <a:spcPts val="1000"/>
              </a:spcBef>
              <a:buFont typeface="Arial" panose="020B0604020202020204" pitchFamily="34" charset="0"/>
              <a:buChar char="•"/>
              <a:defRPr sz="2000">
                <a:solidFill>
                  <a:schemeClr val="bg1"/>
                </a:solidFill>
                <a:latin typeface="+mn-lt"/>
              </a:defRPr>
            </a:lvl3pPr>
            <a:lvl4pPr marL="1097280" indent="-283464">
              <a:spcBef>
                <a:spcPts val="1000"/>
              </a:spcBef>
              <a:buFont typeface="Arial" panose="020B0604020202020204" pitchFamily="34" charset="0"/>
              <a:buChar char="•"/>
              <a:defRPr sz="2000">
                <a:solidFill>
                  <a:schemeClr val="bg1"/>
                </a:solidFill>
                <a:latin typeface="+mn-lt"/>
              </a:defRPr>
            </a:lvl4pPr>
            <a:lvl5pPr marL="1371600"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E95D4F5-F69B-42F6-8A9D-330F696E144B}"/>
              </a:ext>
            </a:extLst>
          </p:cNvPr>
          <p:cNvSpPr>
            <a:spLocks noGrp="1"/>
          </p:cNvSpPr>
          <p:nvPr>
            <p:ph type="dt" sz="half" idx="10"/>
          </p:nvPr>
        </p:nvSpPr>
        <p:spPr/>
        <p:txBody>
          <a:bodyPr>
            <a:noAutofit/>
          </a:bodyPr>
          <a:lstStyle>
            <a:lvl1pPr>
              <a:defRPr>
                <a:solidFill>
                  <a:schemeClr val="accent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FA79A23A-2238-4904-8692-9F2DAE8B8FC9}"/>
              </a:ext>
            </a:extLst>
          </p:cNvPr>
          <p:cNvSpPr>
            <a:spLocks noGrp="1"/>
          </p:cNvSpPr>
          <p:nvPr>
            <p:ph type="ftr" sz="quarter" idx="11"/>
          </p:nvPr>
        </p:nvSpPr>
        <p:spPr/>
        <p:txBody>
          <a:bodyPr>
            <a:noAutofit/>
          </a:bodyPr>
          <a:lstStyle>
            <a:lvl1pPr>
              <a:defRPr>
                <a:solidFill>
                  <a:schemeClr val="accent2"/>
                </a:solidFill>
                <a:latin typeface="+mn-lt"/>
              </a:defRPr>
            </a:lvl1pPr>
          </a:lstStyle>
          <a:p>
            <a:endParaRPr lang="en-US" dirty="0"/>
          </a:p>
        </p:txBody>
      </p:sp>
      <p:sp>
        <p:nvSpPr>
          <p:cNvPr id="6" name="Slide Number Placeholder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a:noAutofit/>
          </a:bodyPr>
          <a:lstStyle>
            <a:lvl1pPr>
              <a:defRPr>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28831769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Section title">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5FBCE6F-2AA9-31FE-8148-33B480735599}"/>
              </a:ext>
              <a:ext uri="{C183D7F6-B498-43B3-948B-1728B52AA6E4}">
                <adec:decorative xmlns:adec="http://schemas.microsoft.com/office/drawing/2017/decorative" val="1"/>
              </a:ext>
            </a:extLst>
          </p:cNvPr>
          <p:cNvGrpSpPr/>
          <p:nvPr userDrawn="1"/>
        </p:nvGrpSpPr>
        <p:grpSpPr>
          <a:xfrm>
            <a:off x="0" y="0"/>
            <a:ext cx="12192000" cy="6858000"/>
            <a:chOff x="0" y="0"/>
            <a:chExt cx="12192000" cy="6858000"/>
          </a:xfrm>
        </p:grpSpPr>
        <p:sp>
          <p:nvSpPr>
            <p:cNvPr id="23" name="Freeform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6" name="Gro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17" name="Freeform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177553"/>
            <a:ext cx="6245912" cy="3269447"/>
          </a:xfrm>
        </p:spPr>
        <p:txBody>
          <a:bodyPr bIns="0" anchor="b">
            <a:noAutofit/>
          </a:bodyPr>
          <a:lstStyle>
            <a:lvl1pPr algn="l">
              <a:defRPr sz="6000" b="1">
                <a:solidFill>
                  <a:schemeClr val="bg1"/>
                </a:solidFill>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4" y="3492896"/>
            <a:ext cx="6245912" cy="912850"/>
          </a:xfrm>
        </p:spPr>
        <p:txBody>
          <a:bodyPr anchor="ctr" anchorCtr="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9865294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n Content">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14DB56B5-5DD7-95E3-52B2-EDC4B3F13058}"/>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Freeform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nvGrpSpPr>
            <p:cNvPr id="9" name="Gro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Freeform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sp>
            <p:nvSpPr>
              <p:cNvPr id="8" name="Freeform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latin typeface="+mn-lt"/>
                </a:endParaRPr>
              </a:p>
            </p:txBody>
          </p:sp>
        </p:gr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601200" cy="1653371"/>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Content Placeholder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latin typeface="+mn-lt"/>
              </a:defRPr>
            </a:lvl1pPr>
            <a:lvl2pPr marL="283464" indent="-283464">
              <a:spcBef>
                <a:spcPts val="1000"/>
              </a:spcBef>
              <a:buFont typeface="Arial" panose="020B0604020202020204" pitchFamily="34" charset="0"/>
              <a:buChar char="•"/>
              <a:defRPr sz="2000">
                <a:latin typeface="+mn-lt"/>
              </a:defRPr>
            </a:lvl2pPr>
            <a:lvl3pPr marL="566928" indent="-283464">
              <a:spcBef>
                <a:spcPts val="1000"/>
              </a:spcBef>
              <a:buFont typeface="Arial" panose="020B0604020202020204" pitchFamily="34" charset="0"/>
              <a:buChar char="•"/>
              <a:defRPr sz="2000">
                <a:latin typeface="+mn-lt"/>
              </a:defRPr>
            </a:lvl3pPr>
            <a:lvl4pPr marL="850392" indent="-283464">
              <a:spcBef>
                <a:spcPts val="1000"/>
              </a:spcBef>
              <a:buFont typeface="Arial" panose="020B0604020202020204" pitchFamily="34" charset="0"/>
              <a:buChar char="•"/>
              <a:defRPr sz="2000">
                <a:latin typeface="+mn-lt"/>
              </a:defRPr>
            </a:lvl4pPr>
            <a:lvl5pPr marL="1133856" indent="-283464">
              <a:spcBef>
                <a:spcPts val="1000"/>
              </a:spcBef>
              <a:buFont typeface="Arial" panose="020B0604020202020204" pitchFamily="34" charset="0"/>
              <a:buChar char="•"/>
              <a:defRPr sz="2000">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7678435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2 content">
    <p:bg>
      <p:bgPr>
        <a:solidFill>
          <a:schemeClr val="accent1"/>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1A0E8D4A-B13C-C7EE-5E27-278124A1276E}"/>
              </a:ext>
              <a:ext uri="{C183D7F6-B498-43B3-948B-1728B52AA6E4}">
                <adec:decorative xmlns:adec="http://schemas.microsoft.com/office/drawing/2017/decorative" val="1"/>
              </a:ext>
            </a:extLst>
          </p:cNvPr>
          <p:cNvGrpSpPr/>
          <p:nvPr userDrawn="1"/>
        </p:nvGrpSpPr>
        <p:grpSpPr>
          <a:xfrm>
            <a:off x="1" y="1"/>
            <a:ext cx="12191999" cy="6857999"/>
            <a:chOff x="1" y="1"/>
            <a:chExt cx="12191999" cy="6857999"/>
          </a:xfrm>
        </p:grpSpPr>
        <p:sp>
          <p:nvSpPr>
            <p:cNvPr id="4" name="Freeform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Freeform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69008"/>
            <a:ext cx="9779183" cy="1706563"/>
          </a:xfrm>
        </p:spPr>
        <p:txBody>
          <a:bodyPr anchor="b">
            <a:noAutofit/>
          </a:bodyPr>
          <a:lstStyle>
            <a:lvl1pPr>
              <a:defRPr sz="4200" b="1">
                <a:solidFill>
                  <a:schemeClr val="bg1"/>
                </a:solidFill>
                <a:latin typeface="+mj-lt"/>
              </a:defRPr>
            </a:lvl1pPr>
          </a:lstStyle>
          <a:p>
            <a:r>
              <a:rPr lang="en-US" dirty="0"/>
              <a:t>Click to add title</a:t>
            </a:r>
          </a:p>
        </p:txBody>
      </p:sp>
      <p:sp>
        <p:nvSpPr>
          <p:cNvPr id="14" name="Content Placeholder 2">
            <a:extLst>
              <a:ext uri="{FF2B5EF4-FFF2-40B4-BE49-F238E27FC236}">
                <a16:creationId xmlns:a16="http://schemas.microsoft.com/office/drawing/2014/main" id="{926B296A-EB6A-9BE9-E813-B15C46524F4D}"/>
              </a:ext>
            </a:extLst>
          </p:cNvPr>
          <p:cNvSpPr>
            <a:spLocks noGrp="1"/>
          </p:cNvSpPr>
          <p:nvPr>
            <p:ph idx="12" hasCustomPrompt="1"/>
          </p:nvPr>
        </p:nvSpPr>
        <p:spPr>
          <a:xfrm>
            <a:off x="1167493" y="2023984"/>
            <a:ext cx="4663440" cy="3332832"/>
          </a:xfrm>
        </p:spPr>
        <p:txBody>
          <a:bodyPr>
            <a:normAutofit/>
          </a:bodyPr>
          <a:lstStyle>
            <a:lvl1pPr marL="530352" indent="-530352">
              <a:spcBef>
                <a:spcPts val="1000"/>
              </a:spcBef>
              <a:buFont typeface="+mj-lt"/>
              <a:buAutoNum type="arabicPeriod"/>
              <a:defRPr sz="2000">
                <a:solidFill>
                  <a:schemeClr val="bg1"/>
                </a:solidFill>
                <a:latin typeface="+mn-lt"/>
              </a:defRPr>
            </a:lvl1pPr>
            <a:lvl2pPr marL="1097280" indent="-530352">
              <a:spcBef>
                <a:spcPts val="1000"/>
              </a:spcBef>
              <a:buFont typeface="+mj-lt"/>
              <a:buAutoNum type="alphaLcPeriod"/>
              <a:defRPr sz="2000">
                <a:solidFill>
                  <a:schemeClr val="bg1"/>
                </a:solidFill>
                <a:latin typeface="+mn-lt"/>
              </a:defRPr>
            </a:lvl2pPr>
            <a:lvl3pPr marL="1645920" indent="-530352">
              <a:spcBef>
                <a:spcPts val="1000"/>
              </a:spcBef>
              <a:buFont typeface="+mj-lt"/>
              <a:buAutoNum type="arabicParenR"/>
              <a:defRPr sz="2000">
                <a:solidFill>
                  <a:schemeClr val="bg1"/>
                </a:solidFill>
                <a:latin typeface="+mn-lt"/>
              </a:defRPr>
            </a:lvl3pPr>
            <a:lvl4pPr marL="1920240" indent="-530352">
              <a:spcBef>
                <a:spcPts val="1000"/>
              </a:spcBef>
              <a:buFont typeface="+mj-lt"/>
              <a:buAutoNum type="alphaLcParenR"/>
              <a:defRPr sz="2000">
                <a:solidFill>
                  <a:schemeClr val="bg1"/>
                </a:solidFill>
                <a:latin typeface="+mn-lt"/>
              </a:defRPr>
            </a:lvl4pPr>
            <a:lvl5pPr marL="2560320" indent="-514350">
              <a:spcBef>
                <a:spcPts val="1000"/>
              </a:spcBef>
              <a:buFont typeface="+mj-lt"/>
              <a:buAutoNum type="romanLcPeriod"/>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2">
            <a:extLst>
              <a:ext uri="{FF2B5EF4-FFF2-40B4-BE49-F238E27FC236}">
                <a16:creationId xmlns:a16="http://schemas.microsoft.com/office/drawing/2014/main" id="{9435B7D5-E7F8-1267-8942-3C97BE836B98}"/>
              </a:ext>
            </a:extLst>
          </p:cNvPr>
          <p:cNvSpPr>
            <a:spLocks noGrp="1"/>
          </p:cNvSpPr>
          <p:nvPr>
            <p:ph idx="11" hasCustomPrompt="1"/>
          </p:nvPr>
        </p:nvSpPr>
        <p:spPr>
          <a:xfrm>
            <a:off x="6283235" y="2023984"/>
            <a:ext cx="4663440" cy="3332832"/>
          </a:xfrm>
        </p:spPr>
        <p:txBody>
          <a:bodyPr>
            <a:normAutofit/>
          </a:bodyPr>
          <a:lstStyle>
            <a:lvl1pPr marL="0" indent="0">
              <a:spcBef>
                <a:spcPts val="1000"/>
              </a:spcBef>
              <a:buFont typeface="Arial" panose="020B0604020202020204" pitchFamily="34" charset="0"/>
              <a:buNone/>
              <a:defRPr sz="2000">
                <a:solidFill>
                  <a:schemeClr val="bg1"/>
                </a:solidFill>
                <a:latin typeface="+mn-lt"/>
              </a:defRPr>
            </a:lvl1pPr>
            <a:lvl2pPr marL="283464" indent="-283464">
              <a:spcBef>
                <a:spcPts val="1000"/>
              </a:spcBef>
              <a:buFont typeface="Arial" panose="020B0604020202020204" pitchFamily="34" charset="0"/>
              <a:buChar char="•"/>
              <a:defRPr sz="2000">
                <a:solidFill>
                  <a:schemeClr val="bg1"/>
                </a:solidFill>
                <a:latin typeface="+mn-lt"/>
              </a:defRPr>
            </a:lvl2pPr>
            <a:lvl3pPr marL="566928" indent="-283464">
              <a:spcBef>
                <a:spcPts val="1000"/>
              </a:spcBef>
              <a:buFont typeface="Arial" panose="020B0604020202020204" pitchFamily="34" charset="0"/>
              <a:buChar char="•"/>
              <a:defRPr sz="2000">
                <a:solidFill>
                  <a:schemeClr val="bg1"/>
                </a:solidFill>
                <a:latin typeface="+mn-lt"/>
              </a:defRPr>
            </a:lvl3pPr>
            <a:lvl4pPr marL="850392" indent="-283464">
              <a:spcBef>
                <a:spcPts val="1000"/>
              </a:spcBef>
              <a:buFont typeface="Arial" panose="020B0604020202020204" pitchFamily="34" charset="0"/>
              <a:buChar char="•"/>
              <a:defRPr sz="2000">
                <a:solidFill>
                  <a:schemeClr val="bg1"/>
                </a:solidFill>
                <a:latin typeface="+mn-lt"/>
              </a:defRPr>
            </a:lvl4pPr>
            <a:lvl5pPr marL="1133856" indent="-283464">
              <a:spcBef>
                <a:spcPts val="1000"/>
              </a:spcBef>
              <a:buFont typeface="Arial" panose="020B0604020202020204" pitchFamily="34" charset="0"/>
              <a:buChar char="•"/>
              <a:defRPr sz="20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40204266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hart ">
    <p:bg>
      <p:bgPr>
        <a:solidFill>
          <a:schemeClr val="accent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ABA2A58C-57B7-834C-8F5C-3299322411B1}"/>
              </a:ext>
              <a:ext uri="{C183D7F6-B498-43B3-948B-1728B52AA6E4}">
                <adec:decorative xmlns:adec="http://schemas.microsoft.com/office/drawing/2017/decorative" val="1"/>
              </a:ext>
            </a:extLst>
          </p:cNvPr>
          <p:cNvGrpSpPr/>
          <p:nvPr userDrawn="1"/>
        </p:nvGrpSpPr>
        <p:grpSpPr>
          <a:xfrm rot="16200000">
            <a:off x="10772262" y="152641"/>
            <a:ext cx="1572380" cy="1267097"/>
            <a:chOff x="7413403" y="4976359"/>
            <a:chExt cx="2334986" cy="1881641"/>
          </a:xfrm>
        </p:grpSpPr>
        <p:sp>
          <p:nvSpPr>
            <p:cNvPr id="13" name="Freeform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 name="Freeform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1167492" y="136526"/>
            <a:ext cx="9779183" cy="1570038"/>
          </a:xfrm>
        </p:spPr>
        <p:txBody>
          <a:bodyPr anchor="b">
            <a:noAutofit/>
          </a:bodyPr>
          <a:lstStyle>
            <a:lvl1pPr>
              <a:defRPr sz="4200" b="1">
                <a:latin typeface="+mj-lt"/>
              </a:defRPr>
            </a:lvl1pPr>
          </a:lstStyle>
          <a:p>
            <a:r>
              <a:rPr lang="en-US" dirty="0"/>
              <a:t>Click to add title</a:t>
            </a:r>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4832"/>
            <a:ext cx="9779182" cy="3366813"/>
          </a:xfrm>
        </p:spPr>
        <p:txBody>
          <a:bodyPr>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Date Placeholder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r>
              <a:rPr lang="en-US" dirty="0"/>
              <a:t>9/8/20XX</a:t>
            </a:r>
          </a:p>
        </p:txBody>
      </p:sp>
      <p:sp>
        <p:nvSpPr>
          <p:cNvPr id="11" name="Footer Placeholder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endParaRPr lang="en-US" dirty="0"/>
          </a:p>
        </p:txBody>
      </p:sp>
      <p:sp>
        <p:nvSpPr>
          <p:cNvPr id="12" name="Slide Number Placeholder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190945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End Slide">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8AD52EA-B01E-8D38-D87A-BF7EB5B58A82}"/>
              </a:ext>
              <a:ext uri="{C183D7F6-B498-43B3-948B-1728B52AA6E4}">
                <adec:decorative xmlns:adec="http://schemas.microsoft.com/office/drawing/2017/decorative" val="1"/>
              </a:ext>
            </a:extLst>
          </p:cNvPr>
          <p:cNvGrpSpPr/>
          <p:nvPr userDrawn="1"/>
        </p:nvGrpSpPr>
        <p:grpSpPr>
          <a:xfrm>
            <a:off x="0" y="-1"/>
            <a:ext cx="12192001" cy="6864796"/>
            <a:chOff x="0" y="-1"/>
            <a:chExt cx="12192001" cy="6864796"/>
          </a:xfrm>
        </p:grpSpPr>
        <p:sp>
          <p:nvSpPr>
            <p:cNvPr id="4" name="Rectangle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 name="Gro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Freeform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2" name="Freeform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167494" y="252549"/>
            <a:ext cx="6220278" cy="3262811"/>
          </a:xfrm>
        </p:spPr>
        <p:txBody>
          <a:bodyPr anchor="b">
            <a:noAutofit/>
          </a:bodyPr>
          <a:lstStyle>
            <a:lvl1pPr algn="l">
              <a:defRPr sz="6000" b="1">
                <a:latin typeface="+mj-lt"/>
              </a:defRPr>
            </a:lvl1pPr>
          </a:lstStyle>
          <a:p>
            <a:r>
              <a:rPr lang="en-US" dirty="0"/>
              <a:t>Click to add title</a:t>
            </a:r>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1167493" y="3685939"/>
            <a:ext cx="6220277" cy="2919512"/>
          </a:xfrm>
        </p:spPr>
        <p:txBody>
          <a:bodyPr anchor="t" anchorCtr="0">
            <a:norm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text</a:t>
            </a:r>
          </a:p>
        </p:txBody>
      </p:sp>
    </p:spTree>
    <p:extLst>
      <p:ext uri="{BB962C8B-B14F-4D97-AF65-F5344CB8AC3E}">
        <p14:creationId xmlns:p14="http://schemas.microsoft.com/office/powerpoint/2010/main" val="2544706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r>
              <a:rPr lang="en-US" dirty="0"/>
              <a:t>9/8/20XX</a:t>
            </a:r>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endParaRPr lang="en-US" dirty="0"/>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73" r:id="rId3"/>
    <p:sldLayoutId id="2147483671" r:id="rId4"/>
    <p:sldLayoutId id="2147483659" r:id="rId5"/>
    <p:sldLayoutId id="2147483668" r:id="rId6"/>
    <p:sldLayoutId id="2147483669" r:id="rId7"/>
    <p:sldLayoutId id="2147483661" r:id="rId8"/>
    <p:sldLayoutId id="2147483666" r:id="rId9"/>
  </p:sldLayoutIdLst>
  <p:hf sldNum="0" hdr="0" ftr="0" dt="0"/>
  <p:txStyles>
    <p:titleStyle>
      <a:lvl1pPr algn="l" defTabSz="914400" rtl="0" eaLnBrk="1" latinLnBrk="0" hangingPunct="1">
        <a:lnSpc>
          <a:spcPct val="8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DF3D98-3C30-4CFC-8643-C81E829C8C25}"/>
              </a:ext>
            </a:extLst>
          </p:cNvPr>
          <p:cNvSpPr>
            <a:spLocks noGrp="1"/>
          </p:cNvSpPr>
          <p:nvPr>
            <p:ph type="ctrTitle"/>
          </p:nvPr>
        </p:nvSpPr>
        <p:spPr>
          <a:xfrm>
            <a:off x="1167493" y="232913"/>
            <a:ext cx="7096933" cy="3830130"/>
          </a:xfrm>
        </p:spPr>
        <p:txBody>
          <a:bodyPr/>
          <a:lstStyle/>
          <a:p>
            <a:r>
              <a:rPr lang="en-US" dirty="0"/>
              <a:t>SDS</a:t>
            </a:r>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DF434-28DB-4621-A497-D62C41CE0419}"/>
              </a:ext>
            </a:extLst>
          </p:cNvPr>
          <p:cNvSpPr>
            <a:spLocks noGrp="1"/>
          </p:cNvSpPr>
          <p:nvPr>
            <p:ph type="title"/>
          </p:nvPr>
        </p:nvSpPr>
        <p:spPr>
          <a:xfrm>
            <a:off x="1158864" y="102021"/>
            <a:ext cx="9779183" cy="1744415"/>
          </a:xfrm>
        </p:spPr>
        <p:txBody>
          <a:bodyPr/>
          <a:lstStyle/>
          <a:p>
            <a:r>
              <a:rPr lang="en-US" dirty="0"/>
              <a:t>Content </a:t>
            </a:r>
          </a:p>
        </p:txBody>
      </p:sp>
      <p:sp>
        <p:nvSpPr>
          <p:cNvPr id="3" name="Content Placeholder 2">
            <a:extLst>
              <a:ext uri="{FF2B5EF4-FFF2-40B4-BE49-F238E27FC236}">
                <a16:creationId xmlns:a16="http://schemas.microsoft.com/office/drawing/2014/main" id="{22788C46-D0BC-4307-AE55-7601A139E7CB}"/>
              </a:ext>
            </a:extLst>
          </p:cNvPr>
          <p:cNvSpPr>
            <a:spLocks noGrp="1"/>
          </p:cNvSpPr>
          <p:nvPr>
            <p:ph idx="1"/>
          </p:nvPr>
        </p:nvSpPr>
        <p:spPr>
          <a:xfrm>
            <a:off x="1206409" y="2007635"/>
            <a:ext cx="9779182" cy="3366815"/>
          </a:xfrm>
        </p:spPr>
        <p:txBody>
          <a:bodyPr vert="horz" lIns="91440" tIns="45720" rIns="91440" bIns="45720" rtlCol="0" anchor="t">
            <a:normAutofit/>
          </a:bodyPr>
          <a:lstStyle/>
          <a:p>
            <a:pPr marL="342900" indent="-342900">
              <a:buFont typeface="Arial" panose="020B0604020202020204" pitchFamily="34" charset="0"/>
              <a:buChar char="•"/>
            </a:pPr>
            <a:r>
              <a:rPr lang="en-US" sz="2500" b="1" dirty="0">
                <a:effectLst/>
                <a:latin typeface="Calibri" panose="020F0502020204030204" pitchFamily="34" charset="0"/>
                <a:ea typeface="Calibri" panose="020F0502020204030204" pitchFamily="34" charset="0"/>
                <a:cs typeface="Arial" panose="020B0604020202020204" pitchFamily="34" charset="0"/>
              </a:rPr>
              <a:t>Architecture Diagram</a:t>
            </a:r>
            <a:endParaRPr lang="en-US" sz="2500" b="1" dirty="0"/>
          </a:p>
          <a:p>
            <a:pPr marL="342900" indent="-342900">
              <a:buFont typeface="Arial" panose="020B0604020202020204" pitchFamily="34" charset="0"/>
              <a:buChar char="•"/>
            </a:pPr>
            <a:r>
              <a:rPr lang="en-US" sz="2500" b="1" dirty="0">
                <a:effectLst/>
                <a:latin typeface="Calibri" panose="020F0502020204030204" pitchFamily="34" charset="0"/>
                <a:ea typeface="Calibri" panose="020F0502020204030204" pitchFamily="34" charset="0"/>
                <a:cs typeface="Arial" panose="020B0604020202020204" pitchFamily="34" charset="0"/>
              </a:rPr>
              <a:t>Class Diagram &amp;  Class Descriptions</a:t>
            </a:r>
          </a:p>
          <a:p>
            <a:pPr marL="342900" indent="-342900">
              <a:buFont typeface="Arial" panose="020B0604020202020204" pitchFamily="34" charset="0"/>
              <a:buChar char="•"/>
            </a:pPr>
            <a:r>
              <a:rPr lang="en-US" sz="2500" b="1" dirty="0">
                <a:effectLst/>
                <a:latin typeface="Calibri" panose="020F0502020204030204" pitchFamily="34" charset="0"/>
                <a:ea typeface="Calibri" panose="020F0502020204030204" pitchFamily="34" charset="0"/>
                <a:cs typeface="Arial" panose="020B0604020202020204" pitchFamily="34" charset="0"/>
              </a:rPr>
              <a:t>Sequence diagrams</a:t>
            </a:r>
          </a:p>
          <a:p>
            <a:pPr marL="342900" indent="-342900">
              <a:buFont typeface="Arial" panose="020B0604020202020204" pitchFamily="34" charset="0"/>
              <a:buChar char="•"/>
            </a:pPr>
            <a:r>
              <a:rPr lang="en-US" sz="2500" b="1" dirty="0">
                <a:effectLst/>
                <a:latin typeface="Calibri" panose="020F0502020204030204" pitchFamily="34" charset="0"/>
                <a:ea typeface="Calibri" panose="020F0502020204030204" pitchFamily="34" charset="0"/>
                <a:cs typeface="Arial" panose="020B0604020202020204" pitchFamily="34" charset="0"/>
              </a:rPr>
              <a:t> State Diagram</a:t>
            </a:r>
          </a:p>
          <a:p>
            <a:pPr marL="342900" indent="-342900">
              <a:buFont typeface="Arial" panose="020B0604020202020204" pitchFamily="34" charset="0"/>
              <a:buChar char="•"/>
            </a:pPr>
            <a:r>
              <a:rPr lang="en-US" sz="2500" b="1" dirty="0">
                <a:effectLst/>
                <a:latin typeface="Calibri" panose="020F0502020204030204" pitchFamily="34" charset="0"/>
                <a:ea typeface="Calibri" panose="020F0502020204030204" pitchFamily="34" charset="0"/>
                <a:cs typeface="Arial" panose="020B0604020202020204" pitchFamily="34" charset="0"/>
              </a:rPr>
              <a:t>SOLID Principles &amp;  Design Patterns</a:t>
            </a:r>
          </a:p>
          <a:p>
            <a:pPr marL="342900" indent="-342900">
              <a:buFont typeface="Arial" panose="020B0604020202020204" pitchFamily="34" charset="0"/>
              <a:buChar char="•"/>
            </a:pPr>
            <a:r>
              <a:rPr lang="en-US" sz="2500" b="1" dirty="0">
                <a:latin typeface="Calibri" panose="020F0502020204030204" pitchFamily="34" charset="0"/>
                <a:ea typeface="Calibri" panose="020F0502020204030204" pitchFamily="34" charset="0"/>
                <a:cs typeface="Arial" panose="020B0604020202020204" pitchFamily="34" charset="0"/>
              </a:rPr>
              <a:t>Tools </a:t>
            </a:r>
            <a:endParaRPr lang="en-US" sz="2500" b="1" dirty="0"/>
          </a:p>
        </p:txBody>
      </p:sp>
    </p:spTree>
    <p:extLst>
      <p:ext uri="{BB962C8B-B14F-4D97-AF65-F5344CB8AC3E}">
        <p14:creationId xmlns:p14="http://schemas.microsoft.com/office/powerpoint/2010/main" val="13256085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48DD4-4828-CE87-0C5C-42BE175E8DA5}"/>
              </a:ext>
            </a:extLst>
          </p:cNvPr>
          <p:cNvSpPr>
            <a:spLocks noGrp="1"/>
          </p:cNvSpPr>
          <p:nvPr>
            <p:ph type="title"/>
          </p:nvPr>
        </p:nvSpPr>
        <p:spPr>
          <a:xfrm>
            <a:off x="68827" y="1597742"/>
            <a:ext cx="5486399" cy="639095"/>
          </a:xfrm>
        </p:spPr>
        <p:txBody>
          <a:bodyPr anchor="b">
            <a:normAutofit fontScale="90000"/>
          </a:bodyPr>
          <a:lstStyle/>
          <a:p>
            <a:pPr marL="571500" indent="-571500">
              <a:buFont typeface="Arial" panose="020B0604020202020204" pitchFamily="34" charset="0"/>
              <a:buChar char="•"/>
            </a:pPr>
            <a:r>
              <a:rPr lang="en-US" dirty="0">
                <a:effectLst/>
              </a:rPr>
              <a:t>Architecture</a:t>
            </a:r>
            <a:r>
              <a:rPr lang="en-US" dirty="0"/>
              <a:t> </a:t>
            </a:r>
            <a:r>
              <a:rPr lang="en-US" dirty="0">
                <a:effectLst/>
              </a:rPr>
              <a:t>Diagram</a:t>
            </a:r>
            <a:br>
              <a:rPr lang="en-US" dirty="0">
                <a:effectLst/>
              </a:rPr>
            </a:br>
            <a:r>
              <a:rPr lang="en-US" dirty="0">
                <a:effectLst/>
              </a:rPr>
              <a:t> </a:t>
            </a:r>
            <a:endParaRPr lang="en-US" dirty="0"/>
          </a:p>
        </p:txBody>
      </p:sp>
      <p:pic>
        <p:nvPicPr>
          <p:cNvPr id="7" name="Picture 6" descr="A screenshot of a computer&#10;&#10;Description automatically generated">
            <a:extLst>
              <a:ext uri="{FF2B5EF4-FFF2-40B4-BE49-F238E27FC236}">
                <a16:creationId xmlns:a16="http://schemas.microsoft.com/office/drawing/2014/main" id="{EC8B1DE7-26CA-25E3-1BED-FB84AB9119F2}"/>
              </a:ext>
            </a:extLst>
          </p:cNvPr>
          <p:cNvPicPr>
            <a:picLocks noChangeAspect="1"/>
          </p:cNvPicPr>
          <p:nvPr/>
        </p:nvPicPr>
        <p:blipFill>
          <a:blip r:embed="rId3"/>
          <a:stretch>
            <a:fillRect/>
          </a:stretch>
        </p:blipFill>
        <p:spPr>
          <a:xfrm>
            <a:off x="5661086" y="464575"/>
            <a:ext cx="4728148" cy="5928850"/>
          </a:xfrm>
          <a:prstGeom prst="rect">
            <a:avLst/>
          </a:prstGeom>
          <a:noFill/>
        </p:spPr>
      </p:pic>
      <p:sp>
        <p:nvSpPr>
          <p:cNvPr id="9" name="TextBox 8">
            <a:extLst>
              <a:ext uri="{FF2B5EF4-FFF2-40B4-BE49-F238E27FC236}">
                <a16:creationId xmlns:a16="http://schemas.microsoft.com/office/drawing/2014/main" id="{8D5A140E-0C43-FFD5-5691-1244E5536E99}"/>
              </a:ext>
            </a:extLst>
          </p:cNvPr>
          <p:cNvSpPr txBox="1"/>
          <p:nvPr/>
        </p:nvSpPr>
        <p:spPr>
          <a:xfrm>
            <a:off x="245807" y="1917290"/>
            <a:ext cx="4896463" cy="2585323"/>
          </a:xfrm>
          <a:prstGeom prst="rect">
            <a:avLst/>
          </a:prstGeom>
          <a:noFill/>
        </p:spPr>
        <p:txBody>
          <a:bodyPr wrap="square" rtlCol="0">
            <a:spAutoFit/>
          </a:bodyPr>
          <a:lstStyle/>
          <a:p>
            <a:r>
              <a:rPr lang="en-US" dirty="0"/>
              <a:t>Uses a </a:t>
            </a:r>
            <a:r>
              <a:rPr lang="en-US" b="1" dirty="0"/>
              <a:t>Layered (N-tier) architecture</a:t>
            </a:r>
            <a:r>
              <a:rPr lang="en-US" dirty="0"/>
              <a:t> to separate presentation, business logic, and data access layers.</a:t>
            </a:r>
            <a:br>
              <a:rPr lang="en-US" dirty="0"/>
            </a:br>
            <a:r>
              <a:rPr lang="en-US" dirty="0"/>
              <a:t>This structure improves </a:t>
            </a:r>
            <a:r>
              <a:rPr lang="en-US" b="1" dirty="0"/>
              <a:t>scalability</a:t>
            </a:r>
            <a:r>
              <a:rPr lang="en-US" dirty="0"/>
              <a:t>, </a:t>
            </a:r>
            <a:r>
              <a:rPr lang="en-US" b="1" dirty="0"/>
              <a:t>maintainability</a:t>
            </a:r>
            <a:r>
              <a:rPr lang="en-US" dirty="0"/>
              <a:t>, and </a:t>
            </a:r>
            <a:r>
              <a:rPr lang="en-US" b="1" dirty="0"/>
              <a:t>security</a:t>
            </a:r>
            <a:r>
              <a:rPr lang="en-US" dirty="0"/>
              <a:t>.</a:t>
            </a:r>
            <a:br>
              <a:rPr lang="en-US" dirty="0"/>
            </a:br>
            <a:r>
              <a:rPr lang="en-US" dirty="0"/>
              <a:t>It supports integration with external services like bank APIs and e-wallets.</a:t>
            </a:r>
            <a:br>
              <a:rPr lang="en-US" dirty="0"/>
            </a:br>
            <a:r>
              <a:rPr lang="en-US" dirty="0"/>
              <a:t>Ideal for mobile/web apps backed by a cloud database.</a:t>
            </a:r>
          </a:p>
        </p:txBody>
      </p:sp>
    </p:spTree>
    <p:extLst>
      <p:ext uri="{BB962C8B-B14F-4D97-AF65-F5344CB8AC3E}">
        <p14:creationId xmlns:p14="http://schemas.microsoft.com/office/powerpoint/2010/main" val="36626771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any&#10;&#10;AI-generated content may be incorrect.">
            <a:extLst>
              <a:ext uri="{FF2B5EF4-FFF2-40B4-BE49-F238E27FC236}">
                <a16:creationId xmlns:a16="http://schemas.microsoft.com/office/drawing/2014/main" id="{76C382E3-FAAD-DA31-1FA3-A585B4F0A3B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262161" y="521652"/>
            <a:ext cx="6210300" cy="5814695"/>
          </a:xfrm>
          <a:prstGeom prst="rect">
            <a:avLst/>
          </a:prstGeom>
        </p:spPr>
      </p:pic>
      <p:sp>
        <p:nvSpPr>
          <p:cNvPr id="2" name="Title 1">
            <a:extLst>
              <a:ext uri="{FF2B5EF4-FFF2-40B4-BE49-F238E27FC236}">
                <a16:creationId xmlns:a16="http://schemas.microsoft.com/office/drawing/2014/main" id="{6F148DD4-4828-CE87-0C5C-42BE175E8DA5}"/>
              </a:ext>
            </a:extLst>
          </p:cNvPr>
          <p:cNvSpPr>
            <a:spLocks noGrp="1"/>
          </p:cNvSpPr>
          <p:nvPr>
            <p:ph type="title"/>
          </p:nvPr>
        </p:nvSpPr>
        <p:spPr>
          <a:xfrm>
            <a:off x="0" y="550607"/>
            <a:ext cx="5919019" cy="941869"/>
          </a:xfrm>
        </p:spPr>
        <p:txBody>
          <a:bodyPr anchor="b">
            <a:normAutofit/>
          </a:bodyPr>
          <a:lstStyle/>
          <a:p>
            <a:pPr marL="571500" indent="-571500">
              <a:buFont typeface="Arial" panose="020B0604020202020204" pitchFamily="34" charset="0"/>
              <a:buChar char="•"/>
            </a:pPr>
            <a:r>
              <a:rPr lang="en-US" dirty="0">
                <a:effectLst/>
              </a:rPr>
              <a:t>Class Diagram </a:t>
            </a:r>
            <a:endParaRPr lang="en-US" dirty="0"/>
          </a:p>
        </p:txBody>
      </p:sp>
      <p:sp>
        <p:nvSpPr>
          <p:cNvPr id="9" name="TextBox 8">
            <a:extLst>
              <a:ext uri="{FF2B5EF4-FFF2-40B4-BE49-F238E27FC236}">
                <a16:creationId xmlns:a16="http://schemas.microsoft.com/office/drawing/2014/main" id="{030E7F23-8F2E-D42A-04B7-BE10108D1D85}"/>
              </a:ext>
            </a:extLst>
          </p:cNvPr>
          <p:cNvSpPr txBox="1"/>
          <p:nvPr/>
        </p:nvSpPr>
        <p:spPr>
          <a:xfrm>
            <a:off x="275304" y="2278992"/>
            <a:ext cx="4227870" cy="2862322"/>
          </a:xfrm>
          <a:prstGeom prst="rect">
            <a:avLst/>
          </a:prstGeom>
          <a:noFill/>
        </p:spPr>
        <p:txBody>
          <a:bodyPr wrap="square">
            <a:spAutoFit/>
          </a:bodyPr>
          <a:lstStyle/>
          <a:p>
            <a:r>
              <a:rPr lang="en-US" dirty="0"/>
              <a:t>Defines core system classes such as User, </a:t>
            </a:r>
            <a:r>
              <a:rPr lang="en-US" dirty="0" err="1"/>
              <a:t>AuthManager</a:t>
            </a:r>
            <a:r>
              <a:rPr lang="en-US" dirty="0"/>
              <a:t>, and </a:t>
            </a:r>
            <a:r>
              <a:rPr lang="en-US" dirty="0" err="1"/>
              <a:t>BudgetManager.Each</a:t>
            </a:r>
            <a:r>
              <a:rPr lang="en-US" dirty="0"/>
              <a:t> class has clear responsibilities and many follow interface-based design (</a:t>
            </a:r>
            <a:r>
              <a:rPr lang="en-US" dirty="0" err="1"/>
              <a:t>IManager</a:t>
            </a:r>
            <a:r>
              <a:rPr lang="en-US" dirty="0"/>
              <a:t>).Supports reusability and extension with inheritance (e.g., </a:t>
            </a:r>
            <a:r>
              <a:rPr lang="en-US" dirty="0" err="1"/>
              <a:t>PayMethod</a:t>
            </a:r>
            <a:r>
              <a:rPr lang="en-US" dirty="0"/>
              <a:t>, </a:t>
            </a:r>
            <a:r>
              <a:rPr lang="en-US" dirty="0" err="1"/>
              <a:t>CreditCard</a:t>
            </a:r>
            <a:r>
              <a:rPr lang="en-US" dirty="0"/>
              <a:t>, </a:t>
            </a:r>
            <a:r>
              <a:rPr lang="en-US" dirty="0" err="1"/>
              <a:t>EWallet</a:t>
            </a:r>
            <a:r>
              <a:rPr lang="en-US" dirty="0"/>
              <a:t>).Enables organized, object-oriented structure for development.</a:t>
            </a:r>
          </a:p>
        </p:txBody>
      </p:sp>
    </p:spTree>
    <p:extLst>
      <p:ext uri="{BB962C8B-B14F-4D97-AF65-F5344CB8AC3E}">
        <p14:creationId xmlns:p14="http://schemas.microsoft.com/office/powerpoint/2010/main" val="3598521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4CFB73D-B7C9-A177-04F3-E48E841A875E}"/>
              </a:ext>
            </a:extLst>
          </p:cNvPr>
          <p:cNvSpPr>
            <a:spLocks noGrp="1"/>
          </p:cNvSpPr>
          <p:nvPr>
            <p:ph type="title"/>
          </p:nvPr>
        </p:nvSpPr>
        <p:spPr>
          <a:xfrm>
            <a:off x="1167492" y="69008"/>
            <a:ext cx="9779183" cy="1706563"/>
          </a:xfrm>
        </p:spPr>
        <p:txBody>
          <a:bodyPr/>
          <a:lstStyle/>
          <a:p>
            <a:pPr marL="571500" indent="-571500">
              <a:buFont typeface="Arial" panose="020B0604020202020204" pitchFamily="34" charset="0"/>
              <a:buChar char="•"/>
            </a:pPr>
            <a:r>
              <a:rPr lang="en-US" dirty="0"/>
              <a:t>Class Description </a:t>
            </a:r>
          </a:p>
        </p:txBody>
      </p:sp>
      <p:sp>
        <p:nvSpPr>
          <p:cNvPr id="3" name="Content Placeholder 2">
            <a:extLst>
              <a:ext uri="{FF2B5EF4-FFF2-40B4-BE49-F238E27FC236}">
                <a16:creationId xmlns:a16="http://schemas.microsoft.com/office/drawing/2014/main" id="{D1455C0B-19FB-954B-532A-0A68CAC4E0E4}"/>
              </a:ext>
            </a:extLst>
          </p:cNvPr>
          <p:cNvSpPr>
            <a:spLocks noGrp="1"/>
          </p:cNvSpPr>
          <p:nvPr>
            <p:ph idx="11"/>
          </p:nvPr>
        </p:nvSpPr>
        <p:spPr>
          <a:xfrm>
            <a:off x="11704934" y="0"/>
            <a:ext cx="487066" cy="234920"/>
          </a:xfrm>
        </p:spPr>
        <p:txBody>
          <a:bodyPr>
            <a:normAutofit fontScale="55000" lnSpcReduction="20000"/>
          </a:bodyPr>
          <a:lstStyle/>
          <a:p>
            <a:endParaRPr lang="en-US" dirty="0"/>
          </a:p>
        </p:txBody>
      </p:sp>
      <p:sp>
        <p:nvSpPr>
          <p:cNvPr id="5" name="Rectangle 2">
            <a:extLst>
              <a:ext uri="{FF2B5EF4-FFF2-40B4-BE49-F238E27FC236}">
                <a16:creationId xmlns:a16="http://schemas.microsoft.com/office/drawing/2014/main" id="{1E9388AC-4AC9-A804-4AE1-FDC220EAE585}"/>
              </a:ext>
            </a:extLst>
          </p:cNvPr>
          <p:cNvSpPr>
            <a:spLocks noGrp="1" noChangeArrowheads="1"/>
          </p:cNvSpPr>
          <p:nvPr>
            <p:ph idx="12"/>
          </p:nvPr>
        </p:nvSpPr>
        <p:spPr bwMode="auto">
          <a:xfrm>
            <a:off x="994787" y="2397487"/>
            <a:ext cx="1965806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pPr>
            <a:r>
              <a:rPr kumimoji="0" lang="en-US" altLang="en-US" sz="1800" b="1" i="0" u="none" strike="noStrike" cap="none" normalizeH="0" baseline="0" dirty="0" err="1">
                <a:ln>
                  <a:noFill/>
                </a:ln>
                <a:effectLst/>
                <a:latin typeface="Arial" panose="020B0604020202020204" pitchFamily="34" charset="0"/>
              </a:rPr>
              <a:t>AuthManager</a:t>
            </a:r>
            <a:r>
              <a:rPr kumimoji="0" lang="en-US" altLang="en-US" sz="1800" b="0" i="0" u="none" strike="noStrike" cap="none" normalizeH="0" baseline="0" dirty="0">
                <a:ln>
                  <a:noFill/>
                </a:ln>
                <a:effectLst/>
                <a:latin typeface="Arial" panose="020B0604020202020204" pitchFamily="34" charset="0"/>
              </a:rPr>
              <a:t> – Handles user authentication and recovery emails.</a:t>
            </a:r>
          </a:p>
          <a:p>
            <a:pPr eaLnBrk="0" fontAlgn="base" hangingPunct="0">
              <a:lnSpc>
                <a:spcPct val="100000"/>
              </a:lnSpc>
              <a:spcBef>
                <a:spcPct val="0"/>
              </a:spcBef>
              <a:spcAft>
                <a:spcPct val="0"/>
              </a:spcAft>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pPr>
            <a:r>
              <a:rPr kumimoji="0" lang="en-US" altLang="en-US" sz="1800" b="1" i="0" u="none" strike="noStrike" cap="none" normalizeH="0" baseline="0" dirty="0">
                <a:ln>
                  <a:noFill/>
                </a:ln>
                <a:effectLst/>
                <a:latin typeface="Arial" panose="020B0604020202020204" pitchFamily="34" charset="0"/>
              </a:rPr>
              <a:t>User</a:t>
            </a:r>
            <a:r>
              <a:rPr kumimoji="0" lang="en-US" altLang="en-US" sz="1800" b="0" i="0" u="none" strike="noStrike" cap="none" normalizeH="0" baseline="0" dirty="0">
                <a:ln>
                  <a:noFill/>
                </a:ln>
                <a:effectLst/>
                <a:latin typeface="Arial" panose="020B0604020202020204" pitchFamily="34" charset="0"/>
              </a:rPr>
              <a:t> – Stores user-related runtime data.</a:t>
            </a:r>
          </a:p>
          <a:p>
            <a:pPr eaLnBrk="0" fontAlgn="base" hangingPunct="0">
              <a:lnSpc>
                <a:spcPct val="100000"/>
              </a:lnSpc>
              <a:spcBef>
                <a:spcPct val="0"/>
              </a:spcBef>
              <a:spcAft>
                <a:spcPct val="0"/>
              </a:spcAft>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pPr>
            <a:r>
              <a:rPr kumimoji="0" lang="en-US" altLang="en-US" sz="1800" b="1" i="0" u="none" strike="noStrike" cap="none" normalizeH="0" baseline="0" dirty="0">
                <a:ln>
                  <a:noFill/>
                </a:ln>
                <a:effectLst/>
                <a:latin typeface="Arial" panose="020B0604020202020204" pitchFamily="34" charset="0"/>
              </a:rPr>
              <a:t>Database</a:t>
            </a:r>
            <a:r>
              <a:rPr kumimoji="0" lang="en-US" altLang="en-US" sz="1800" b="0" i="0" u="none" strike="noStrike" cap="none" normalizeH="0" baseline="0" dirty="0">
                <a:ln>
                  <a:noFill/>
                </a:ln>
                <a:effectLst/>
                <a:latin typeface="Arial" panose="020B0604020202020204" pitchFamily="34" charset="0"/>
              </a:rPr>
              <a:t> – Central interface for data storage, updates, and retrieval.</a:t>
            </a:r>
          </a:p>
          <a:p>
            <a:pPr eaLnBrk="0" fontAlgn="base" hangingPunct="0">
              <a:lnSpc>
                <a:spcPct val="100000"/>
              </a:lnSpc>
              <a:spcBef>
                <a:spcPct val="0"/>
              </a:spcBef>
              <a:spcAft>
                <a:spcPct val="0"/>
              </a:spcAft>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pPr>
            <a:r>
              <a:rPr kumimoji="0" lang="en-US" altLang="en-US" sz="1800" b="1" i="0" u="none" strike="noStrike" cap="none" normalizeH="0" baseline="0" dirty="0" err="1">
                <a:ln>
                  <a:noFill/>
                </a:ln>
                <a:effectLst/>
                <a:latin typeface="Arial" panose="020B0604020202020204" pitchFamily="34" charset="0"/>
              </a:rPr>
              <a:t>IncomeManager</a:t>
            </a:r>
            <a:r>
              <a:rPr kumimoji="0" lang="en-US" altLang="en-US" sz="1800" b="1" i="0" u="none" strike="noStrike" cap="none" normalizeH="0" baseline="0" dirty="0">
                <a:ln>
                  <a:noFill/>
                </a:ln>
                <a:effectLst/>
                <a:latin typeface="Arial" panose="020B0604020202020204" pitchFamily="34" charset="0"/>
              </a:rPr>
              <a:t> / </a:t>
            </a:r>
            <a:r>
              <a:rPr kumimoji="0" lang="en-US" altLang="en-US" sz="1800" b="1" i="0" u="none" strike="noStrike" cap="none" normalizeH="0" baseline="0" dirty="0" err="1">
                <a:ln>
                  <a:noFill/>
                </a:ln>
                <a:effectLst/>
                <a:latin typeface="Arial" panose="020B0604020202020204" pitchFamily="34" charset="0"/>
              </a:rPr>
              <a:t>ExpenseManager</a:t>
            </a:r>
            <a:r>
              <a:rPr kumimoji="0" lang="en-US" altLang="en-US" sz="1800" b="1" i="0" u="none" strike="noStrike" cap="none" normalizeH="0" baseline="0" dirty="0">
                <a:ln>
                  <a:noFill/>
                </a:ln>
                <a:effectLst/>
                <a:latin typeface="Arial" panose="020B0604020202020204" pitchFamily="34" charset="0"/>
              </a:rPr>
              <a:t> / </a:t>
            </a:r>
            <a:r>
              <a:rPr kumimoji="0" lang="en-US" altLang="en-US" sz="1800" b="1" i="0" u="none" strike="noStrike" cap="none" normalizeH="0" baseline="0" dirty="0" err="1">
                <a:ln>
                  <a:noFill/>
                </a:ln>
                <a:effectLst/>
                <a:latin typeface="Arial" panose="020B0604020202020204" pitchFamily="34" charset="0"/>
              </a:rPr>
              <a:t>BudgetManager</a:t>
            </a:r>
            <a:r>
              <a:rPr lang="en-US" altLang="en-US" sz="1800" b="1" dirty="0">
                <a:latin typeface="Arial" panose="020B0604020202020204" pitchFamily="34" charset="0"/>
              </a:rPr>
              <a:t> </a:t>
            </a:r>
            <a:r>
              <a:rPr kumimoji="0" lang="en-US" altLang="en-US" sz="1800" b="1" i="0" u="none" strike="noStrike" cap="none" normalizeH="0" baseline="0" dirty="0">
                <a:ln>
                  <a:noFill/>
                </a:ln>
                <a:effectLst/>
                <a:latin typeface="Arial" panose="020B0604020202020204" pitchFamily="34" charset="0"/>
              </a:rPr>
              <a:t> / </a:t>
            </a:r>
            <a:r>
              <a:rPr kumimoji="0" lang="en-US" altLang="en-US" sz="1800" b="1" i="0" u="none" strike="noStrike" cap="none" normalizeH="0" baseline="0" dirty="0" err="1">
                <a:ln>
                  <a:noFill/>
                </a:ln>
                <a:effectLst/>
                <a:latin typeface="Arial" panose="020B0604020202020204" pitchFamily="34" charset="0"/>
              </a:rPr>
              <a:t>PayMethodManager</a:t>
            </a:r>
            <a:r>
              <a:rPr kumimoji="0" lang="en-US" altLang="en-US" sz="1800" b="0" i="0" u="none" strike="noStrike" cap="none" normalizeH="0" baseline="0" dirty="0">
                <a:ln>
                  <a:noFill/>
                </a:ln>
                <a:effectLst/>
                <a:latin typeface="Arial" panose="020B0604020202020204" pitchFamily="34" charset="0"/>
              </a:rPr>
              <a:t> – Manage user’s</a:t>
            </a:r>
          </a:p>
          <a:p>
            <a:pPr marL="0" indent="0" eaLnBrk="0" fontAlgn="base" hangingPunct="0">
              <a:lnSpc>
                <a:spcPct val="100000"/>
              </a:lnSpc>
              <a:spcBef>
                <a:spcPct val="0"/>
              </a:spcBef>
              <a:spcAft>
                <a:spcPct val="0"/>
              </a:spcAft>
              <a:buNone/>
            </a:pPr>
            <a:r>
              <a:rPr lang="en-US" altLang="en-US" sz="1800" dirty="0">
                <a:latin typeface="Arial" panose="020B0604020202020204" pitchFamily="34" charset="0"/>
              </a:rPr>
              <a:t>       </a:t>
            </a:r>
            <a:r>
              <a:rPr kumimoji="0" lang="en-US" altLang="en-US" sz="1800" b="0" i="0" u="none" strike="noStrike" cap="none" normalizeH="0" baseline="0" dirty="0">
                <a:ln>
                  <a:noFill/>
                </a:ln>
                <a:effectLst/>
                <a:latin typeface="Arial" panose="020B0604020202020204" pitchFamily="34" charset="0"/>
              </a:rPr>
              <a:t> income, expenses, budgets, and payment methods (all implement a shared interface).</a:t>
            </a:r>
          </a:p>
          <a:p>
            <a:pPr marL="0" indent="0" eaLnBrk="0" fontAlgn="base" hangingPunct="0">
              <a:lnSpc>
                <a:spcPct val="100000"/>
              </a:lnSpc>
              <a:spcBef>
                <a:spcPct val="0"/>
              </a:spcBef>
              <a:spcAft>
                <a:spcPct val="0"/>
              </a:spcAft>
              <a:buNone/>
            </a:pPr>
            <a:endParaRPr kumimoji="0" lang="en-US" altLang="en-US" sz="1800" b="0"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2883239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4CFB73D-B7C9-A177-04F3-E48E841A875E}"/>
              </a:ext>
            </a:extLst>
          </p:cNvPr>
          <p:cNvSpPr>
            <a:spLocks noGrp="1"/>
          </p:cNvSpPr>
          <p:nvPr>
            <p:ph type="title"/>
          </p:nvPr>
        </p:nvSpPr>
        <p:spPr>
          <a:xfrm>
            <a:off x="1167492" y="69008"/>
            <a:ext cx="9779183" cy="1706563"/>
          </a:xfrm>
        </p:spPr>
        <p:txBody>
          <a:bodyPr/>
          <a:lstStyle/>
          <a:p>
            <a:pPr marL="571500" indent="-571500">
              <a:buFont typeface="Arial" panose="020B0604020202020204" pitchFamily="34" charset="0"/>
              <a:buChar char="•"/>
            </a:pPr>
            <a:r>
              <a:rPr lang="en-US" dirty="0"/>
              <a:t>Class Description – continued </a:t>
            </a:r>
          </a:p>
        </p:txBody>
      </p:sp>
      <p:sp>
        <p:nvSpPr>
          <p:cNvPr id="3" name="Content Placeholder 2">
            <a:extLst>
              <a:ext uri="{FF2B5EF4-FFF2-40B4-BE49-F238E27FC236}">
                <a16:creationId xmlns:a16="http://schemas.microsoft.com/office/drawing/2014/main" id="{D1455C0B-19FB-954B-532A-0A68CAC4E0E4}"/>
              </a:ext>
            </a:extLst>
          </p:cNvPr>
          <p:cNvSpPr>
            <a:spLocks noGrp="1"/>
          </p:cNvSpPr>
          <p:nvPr>
            <p:ph idx="11"/>
          </p:nvPr>
        </p:nvSpPr>
        <p:spPr>
          <a:xfrm>
            <a:off x="11704934" y="0"/>
            <a:ext cx="487066" cy="234920"/>
          </a:xfrm>
        </p:spPr>
        <p:txBody>
          <a:bodyPr>
            <a:normAutofit fontScale="55000" lnSpcReduction="20000"/>
          </a:bodyPr>
          <a:lstStyle/>
          <a:p>
            <a:endParaRPr lang="en-US" dirty="0"/>
          </a:p>
        </p:txBody>
      </p:sp>
      <p:sp>
        <p:nvSpPr>
          <p:cNvPr id="5" name="Rectangle 2">
            <a:extLst>
              <a:ext uri="{FF2B5EF4-FFF2-40B4-BE49-F238E27FC236}">
                <a16:creationId xmlns:a16="http://schemas.microsoft.com/office/drawing/2014/main" id="{1E9388AC-4AC9-A804-4AE1-FDC220EAE585}"/>
              </a:ext>
            </a:extLst>
          </p:cNvPr>
          <p:cNvSpPr>
            <a:spLocks noGrp="1" noChangeArrowheads="1"/>
          </p:cNvSpPr>
          <p:nvPr>
            <p:ph idx="12"/>
          </p:nvPr>
        </p:nvSpPr>
        <p:spPr bwMode="auto">
          <a:xfrm>
            <a:off x="994787" y="2120488"/>
            <a:ext cx="19658066"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eaLnBrk="0" fontAlgn="base" hangingPunct="0">
              <a:lnSpc>
                <a:spcPct val="100000"/>
              </a:lnSpc>
              <a:spcBef>
                <a:spcPct val="0"/>
              </a:spcBef>
              <a:spcAft>
                <a:spcPct val="0"/>
              </a:spcAft>
              <a:buAutoNum type="arabicPeriod" startAt="5"/>
            </a:pPr>
            <a:r>
              <a:rPr kumimoji="0" lang="en-US" altLang="en-US" sz="1800" b="0" i="0" u="none" strike="noStrike" cap="none" normalizeH="0" baseline="0" dirty="0">
                <a:ln>
                  <a:noFill/>
                </a:ln>
                <a:effectLst/>
                <a:latin typeface="Arial" panose="020B0604020202020204" pitchFamily="34" charset="0"/>
              </a:rPr>
              <a:t>Goal – Tracks a user's personal financial target and constraints.</a:t>
            </a:r>
          </a:p>
          <a:p>
            <a:pPr eaLnBrk="0" fontAlgn="base" hangingPunct="0">
              <a:lnSpc>
                <a:spcPct val="100000"/>
              </a:lnSpc>
              <a:spcBef>
                <a:spcPct val="0"/>
              </a:spcBef>
              <a:spcAft>
                <a:spcPct val="0"/>
              </a:spcAft>
              <a:buAutoNum type="arabicPeriod" startAt="5"/>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buAutoNum type="arabicPeriod" startAt="6"/>
            </a:pPr>
            <a:r>
              <a:rPr kumimoji="0" lang="en-US" altLang="en-US" sz="1800" b="0" i="0" u="none" strike="noStrike" cap="none" normalizeH="0" baseline="0" dirty="0">
                <a:ln>
                  <a:noFill/>
                </a:ln>
                <a:effectLst/>
                <a:latin typeface="Arial" panose="020B0604020202020204" pitchFamily="34" charset="0"/>
              </a:rPr>
              <a:t>Income / Budget – Store detailed income and budget data per user.</a:t>
            </a:r>
          </a:p>
          <a:p>
            <a:pPr eaLnBrk="0" fontAlgn="base" hangingPunct="0">
              <a:lnSpc>
                <a:spcPct val="100000"/>
              </a:lnSpc>
              <a:spcBef>
                <a:spcPct val="0"/>
              </a:spcBef>
              <a:spcAft>
                <a:spcPct val="0"/>
              </a:spcAft>
              <a:buAutoNum type="arabicPeriod" startAt="6"/>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buAutoNum type="arabicPeriod" startAt="7"/>
            </a:pPr>
            <a:r>
              <a:rPr kumimoji="0" lang="en-US" altLang="en-US" sz="1800" b="0" i="0" u="none" strike="noStrike" cap="none" normalizeH="0" baseline="0" dirty="0" err="1">
                <a:ln>
                  <a:noFill/>
                </a:ln>
                <a:effectLst/>
                <a:latin typeface="Arial" panose="020B0604020202020204" pitchFamily="34" charset="0"/>
              </a:rPr>
              <a:t>PayMethod</a:t>
            </a:r>
            <a:r>
              <a:rPr kumimoji="0" lang="en-US" altLang="en-US" sz="1800" b="0" i="0" u="none" strike="noStrike" cap="none" normalizeH="0" baseline="0" dirty="0">
                <a:ln>
                  <a:noFill/>
                </a:ln>
                <a:effectLst/>
                <a:latin typeface="Arial" panose="020B0604020202020204" pitchFamily="34" charset="0"/>
              </a:rPr>
              <a:t> (Abstract) – Base class for user payment methods.</a:t>
            </a:r>
          </a:p>
          <a:p>
            <a:pPr eaLnBrk="0" fontAlgn="base" hangingPunct="0">
              <a:lnSpc>
                <a:spcPct val="100000"/>
              </a:lnSpc>
              <a:spcBef>
                <a:spcPct val="0"/>
              </a:spcBef>
              <a:spcAft>
                <a:spcPct val="0"/>
              </a:spcAft>
              <a:buAutoNum type="arabicPeriod" startAt="7"/>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buAutoNum type="arabicPeriod" startAt="8"/>
            </a:pPr>
            <a:r>
              <a:rPr kumimoji="0" lang="en-US" altLang="en-US" sz="1800" b="0" i="0" u="none" strike="noStrike" cap="none" normalizeH="0" baseline="0" dirty="0" err="1">
                <a:ln>
                  <a:noFill/>
                </a:ln>
                <a:effectLst/>
                <a:latin typeface="Arial" panose="020B0604020202020204" pitchFamily="34" charset="0"/>
              </a:rPr>
              <a:t>CreditCard</a:t>
            </a:r>
            <a:r>
              <a:rPr kumimoji="0" lang="en-US" altLang="en-US" sz="1800" b="0" i="0" u="none" strike="noStrike" cap="none" normalizeH="0" baseline="0" dirty="0">
                <a:ln>
                  <a:noFill/>
                </a:ln>
                <a:effectLst/>
                <a:latin typeface="Arial" panose="020B0604020202020204" pitchFamily="34" charset="0"/>
              </a:rPr>
              <a:t> / </a:t>
            </a:r>
            <a:r>
              <a:rPr kumimoji="0" lang="en-US" altLang="en-US" sz="1800" b="0" i="0" u="none" strike="noStrike" cap="none" normalizeH="0" baseline="0" dirty="0" err="1">
                <a:ln>
                  <a:noFill/>
                </a:ln>
                <a:effectLst/>
                <a:latin typeface="Arial" panose="020B0604020202020204" pitchFamily="34" charset="0"/>
              </a:rPr>
              <a:t>EWallet</a:t>
            </a:r>
            <a:r>
              <a:rPr kumimoji="0" lang="en-US" altLang="en-US" sz="1800" b="0" i="0" u="none" strike="noStrike" cap="none" normalizeH="0" baseline="0" dirty="0">
                <a:ln>
                  <a:noFill/>
                </a:ln>
                <a:effectLst/>
                <a:latin typeface="Arial" panose="020B0604020202020204" pitchFamily="34" charset="0"/>
              </a:rPr>
              <a:t> – Inherit from </a:t>
            </a:r>
            <a:r>
              <a:rPr kumimoji="0" lang="en-US" altLang="en-US" sz="1800" b="0" i="0" u="none" strike="noStrike" cap="none" normalizeH="0" baseline="0" dirty="0" err="1">
                <a:ln>
                  <a:noFill/>
                </a:ln>
                <a:effectLst/>
                <a:latin typeface="Arial" panose="020B0604020202020204" pitchFamily="34" charset="0"/>
              </a:rPr>
              <a:t>PayMethod</a:t>
            </a:r>
            <a:r>
              <a:rPr kumimoji="0" lang="en-US" altLang="en-US" sz="1800" b="0" i="0" u="none" strike="noStrike" cap="none" normalizeH="0" baseline="0" dirty="0">
                <a:ln>
                  <a:noFill/>
                </a:ln>
                <a:effectLst/>
                <a:latin typeface="Arial" panose="020B0604020202020204" pitchFamily="34" charset="0"/>
              </a:rPr>
              <a:t>, adding card details or wallet phone number.</a:t>
            </a:r>
          </a:p>
          <a:p>
            <a:pPr eaLnBrk="0" fontAlgn="base" hangingPunct="0">
              <a:lnSpc>
                <a:spcPct val="100000"/>
              </a:lnSpc>
              <a:spcBef>
                <a:spcPct val="0"/>
              </a:spcBef>
              <a:spcAft>
                <a:spcPct val="0"/>
              </a:spcAft>
              <a:buAutoNum type="arabicPeriod" startAt="8"/>
            </a:pPr>
            <a:endParaRPr kumimoji="0" lang="en-US" altLang="en-US" sz="1800" b="0" i="0" u="none" strike="noStrike" cap="none" normalizeH="0" baseline="0" dirty="0">
              <a:ln>
                <a:noFill/>
              </a:ln>
              <a:effectLst/>
              <a:latin typeface="Arial" panose="020B0604020202020204" pitchFamily="34" charset="0"/>
            </a:endParaRPr>
          </a:p>
          <a:p>
            <a:pPr eaLnBrk="0" fontAlgn="base" hangingPunct="0">
              <a:lnSpc>
                <a:spcPct val="100000"/>
              </a:lnSpc>
              <a:spcBef>
                <a:spcPct val="0"/>
              </a:spcBef>
              <a:spcAft>
                <a:spcPct val="0"/>
              </a:spcAft>
              <a:buAutoNum type="arabicPeriod" startAt="9"/>
            </a:pPr>
            <a:r>
              <a:rPr kumimoji="0" lang="en-US" altLang="en-US" sz="1800" b="0" i="0" u="none" strike="noStrike" cap="none" normalizeH="0" baseline="0" dirty="0">
                <a:ln>
                  <a:noFill/>
                </a:ln>
                <a:effectLst/>
                <a:latin typeface="Arial" panose="020B0604020202020204" pitchFamily="34" charset="0"/>
              </a:rPr>
              <a:t>Transaction – Logs a payment method’s transaction </a:t>
            </a:r>
            <a:r>
              <a:rPr kumimoji="0" lang="en-US" altLang="en-US" sz="1800" b="0" i="0" u="none" strike="noStrike" cap="none" normalizeH="0" baseline="0" dirty="0" err="1">
                <a:ln>
                  <a:noFill/>
                </a:ln>
                <a:effectLst/>
                <a:latin typeface="Arial" panose="020B0604020202020204" pitchFamily="34" charset="0"/>
              </a:rPr>
              <a:t>details.Report</a:t>
            </a:r>
            <a:r>
              <a:rPr kumimoji="0" lang="en-US" altLang="en-US" sz="1800" b="0" i="0" u="none" strike="noStrike" cap="none" normalizeH="0" baseline="0" dirty="0">
                <a:ln>
                  <a:noFill/>
                </a:ln>
                <a:effectLst/>
                <a:latin typeface="Arial" panose="020B0604020202020204" pitchFamily="34" charset="0"/>
              </a:rPr>
              <a:t> – Generates performance</a:t>
            </a:r>
          </a:p>
          <a:p>
            <a:pPr marL="0" indent="0" eaLnBrk="0" fontAlgn="base" hangingPunct="0">
              <a:lnSpc>
                <a:spcPct val="100000"/>
              </a:lnSpc>
              <a:spcBef>
                <a:spcPct val="0"/>
              </a:spcBef>
              <a:spcAft>
                <a:spcPct val="0"/>
              </a:spcAft>
              <a:buNone/>
            </a:pPr>
            <a:r>
              <a:rPr lang="en-US" altLang="en-US" sz="1800" dirty="0">
                <a:latin typeface="Arial" panose="020B0604020202020204" pitchFamily="34" charset="0"/>
              </a:rPr>
              <a:t>        </a:t>
            </a:r>
            <a:r>
              <a:rPr kumimoji="0" lang="en-US" altLang="en-US" sz="1800" b="0" i="0" u="none" strike="noStrike" cap="none" normalizeH="0" baseline="0" dirty="0">
                <a:ln>
                  <a:noFill/>
                </a:ln>
                <a:effectLst/>
                <a:latin typeface="Arial" panose="020B0604020202020204" pitchFamily="34" charset="0"/>
              </a:rPr>
              <a:t> insights for the user's budgeting behavior.</a:t>
            </a:r>
          </a:p>
          <a:p>
            <a:pPr marL="0" indent="0" eaLnBrk="0" fontAlgn="base" hangingPunct="0">
              <a:lnSpc>
                <a:spcPct val="100000"/>
              </a:lnSpc>
              <a:spcBef>
                <a:spcPct val="0"/>
              </a:spcBef>
              <a:spcAft>
                <a:spcPct val="0"/>
              </a:spcAft>
              <a:buNone/>
            </a:pPr>
            <a:endParaRPr kumimoji="0" lang="en-US" altLang="en-US" sz="1800" b="0" i="0" u="none" strike="noStrike" cap="none" normalizeH="0" baseline="0" dirty="0">
              <a:ln>
                <a:noFill/>
              </a:ln>
              <a:effectLst/>
              <a:latin typeface="Arial" panose="020B0604020202020204" pitchFamily="34" charset="0"/>
            </a:endParaRPr>
          </a:p>
        </p:txBody>
      </p:sp>
    </p:spTree>
    <p:extLst>
      <p:ext uri="{BB962C8B-B14F-4D97-AF65-F5344CB8AC3E}">
        <p14:creationId xmlns:p14="http://schemas.microsoft.com/office/powerpoint/2010/main" val="26521028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FF5EE67-DE83-C00F-F31C-58A2B46234DB}"/>
              </a:ext>
            </a:extLst>
          </p:cNvPr>
          <p:cNvSpPr>
            <a:spLocks noGrp="1"/>
          </p:cNvSpPr>
          <p:nvPr>
            <p:ph type="title"/>
          </p:nvPr>
        </p:nvSpPr>
        <p:spPr>
          <a:xfrm>
            <a:off x="1167492" y="45085"/>
            <a:ext cx="9779183" cy="1600835"/>
          </a:xfrm>
        </p:spPr>
        <p:txBody>
          <a:bodyPr/>
          <a:lstStyle/>
          <a:p>
            <a:r>
              <a:rPr lang="en-US" dirty="0"/>
              <a:t>Sequence Diagrams</a:t>
            </a:r>
          </a:p>
        </p:txBody>
      </p:sp>
      <p:sp>
        <p:nvSpPr>
          <p:cNvPr id="2" name="Content Placeholder 1">
            <a:extLst>
              <a:ext uri="{FF2B5EF4-FFF2-40B4-BE49-F238E27FC236}">
                <a16:creationId xmlns:a16="http://schemas.microsoft.com/office/drawing/2014/main" id="{1B4F9D6E-63B9-28F7-4269-9D99545FFBA9}"/>
              </a:ext>
            </a:extLst>
          </p:cNvPr>
          <p:cNvSpPr>
            <a:spLocks noGrp="1" noChangeArrowheads="1"/>
          </p:cNvSpPr>
          <p:nvPr>
            <p:ph idx="14"/>
          </p:nvPr>
        </p:nvSpPr>
        <p:spPr bwMode="auto">
          <a:xfrm>
            <a:off x="980000" y="2992574"/>
            <a:ext cx="8351966"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Illustrate interactions between system components for specific user stories.</a:t>
            </a: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Covers flows like </a:t>
            </a:r>
            <a:r>
              <a:rPr kumimoji="0" lang="en-US" altLang="en-US" sz="1800" b="1" i="0" u="none" strike="noStrike" cap="none" normalizeH="0" baseline="0" dirty="0">
                <a:ln>
                  <a:noFill/>
                </a:ln>
                <a:solidFill>
                  <a:schemeClr val="tx1"/>
                </a:solidFill>
                <a:effectLst/>
                <a:latin typeface="Arial" panose="020B0604020202020204" pitchFamily="34" charset="0"/>
              </a:rPr>
              <a:t>Sign Up</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a:ln>
                  <a:noFill/>
                </a:ln>
                <a:solidFill>
                  <a:schemeClr val="tx1"/>
                </a:solidFill>
                <a:effectLst/>
                <a:latin typeface="Arial" panose="020B0604020202020204" pitchFamily="34" charset="0"/>
              </a:rPr>
              <a:t>Login</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a:ln>
                  <a:noFill/>
                </a:ln>
                <a:solidFill>
                  <a:schemeClr val="tx1"/>
                </a:solidFill>
                <a:effectLst/>
                <a:latin typeface="Arial" panose="020B0604020202020204" pitchFamily="34" charset="0"/>
              </a:rPr>
              <a:t>Tracking Income</a:t>
            </a:r>
            <a:r>
              <a:rPr kumimoji="0" lang="en-US" altLang="en-US" sz="1800" b="0" i="0" u="none" strike="noStrike" cap="none" normalizeH="0" baseline="0" dirty="0">
                <a:ln>
                  <a:noFill/>
                </a:ln>
                <a:solidFill>
                  <a:schemeClr val="tx1"/>
                </a:solidFill>
                <a:effectLst/>
                <a:latin typeface="Arial" panose="020B0604020202020204" pitchFamily="34" charset="0"/>
              </a:rPr>
              <a:t>, and </a:t>
            </a:r>
            <a:r>
              <a:rPr kumimoji="0" lang="en-US" altLang="en-US" sz="1800" b="1" i="0" u="none" strike="noStrike" cap="none" normalizeH="0" baseline="0" dirty="0">
                <a:ln>
                  <a:noFill/>
                </a:ln>
                <a:solidFill>
                  <a:schemeClr val="tx1"/>
                </a:solidFill>
                <a:effectLst/>
                <a:latin typeface="Arial" panose="020B0604020202020204" pitchFamily="34" charset="0"/>
              </a:rPr>
              <a:t>Budgeting</a:t>
            </a:r>
            <a:r>
              <a:rPr kumimoji="0" lang="en-US" altLang="en-US" sz="1800" b="0" i="0" u="none" strike="noStrike" cap="none" normalizeH="0" baseline="0" dirty="0">
                <a:ln>
                  <a:noFill/>
                </a:ln>
                <a:solidFill>
                  <a:schemeClr val="tx1"/>
                </a:solidFill>
                <a:effectLst/>
                <a:latin typeface="Arial" panose="020B0604020202020204" pitchFamily="34" charset="0"/>
              </a:rPr>
              <a:t>.</a:t>
            </a: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Helps visualize method calls between objects like </a:t>
            </a:r>
            <a:r>
              <a:rPr kumimoji="0" lang="en-US" altLang="en-US" sz="1800" b="1" i="0" u="none" strike="noStrike" cap="none" normalizeH="0" baseline="0" dirty="0" err="1">
                <a:ln>
                  <a:noFill/>
                </a:ln>
                <a:solidFill>
                  <a:schemeClr val="tx1"/>
                </a:solidFill>
                <a:effectLst/>
                <a:latin typeface="Arial Unicode MS"/>
              </a:rPr>
              <a:t>AuthManager</a:t>
            </a:r>
            <a:r>
              <a:rPr kumimoji="0" lang="en-US" altLang="en-US" sz="1800" b="0" i="0" u="none" strike="noStrike" cap="none" normalizeH="0" baseline="0" dirty="0">
                <a:ln>
                  <a:noFill/>
                </a:ln>
                <a:solidFill>
                  <a:schemeClr val="tx1"/>
                </a:solidFill>
                <a:effectLst/>
              </a:rPr>
              <a:t> and </a:t>
            </a:r>
            <a:r>
              <a:rPr kumimoji="0" lang="en-US" altLang="en-US" sz="1800" b="1" i="0" u="none" strike="noStrike" cap="none" normalizeH="0" baseline="0" dirty="0">
                <a:ln>
                  <a:noFill/>
                </a:ln>
                <a:solidFill>
                  <a:schemeClr val="tx1"/>
                </a:solidFill>
                <a:effectLst/>
                <a:latin typeface="Arial Unicode MS"/>
              </a:rPr>
              <a:t>Database</a:t>
            </a:r>
            <a:r>
              <a:rPr kumimoji="0" lang="en-US" altLang="en-US" sz="1800" b="0" i="0" u="none" strike="noStrike" cap="none" normalizeH="0" baseline="0" dirty="0">
                <a:ln>
                  <a:noFill/>
                </a:ln>
                <a:solidFill>
                  <a:schemeClr val="tx1"/>
                </a:solidFill>
                <a:effectLst/>
              </a:rPr>
              <a:t>.</a:t>
            </a:r>
            <a:br>
              <a:rPr kumimoji="0" lang="en-US" altLang="en-US" sz="1800" b="0" i="0" u="none" strike="noStrike" cap="none" normalizeH="0" baseline="0" dirty="0">
                <a:ln>
                  <a:noFill/>
                </a:ln>
                <a:solidFill>
                  <a:schemeClr val="tx1"/>
                </a:solidFill>
                <a:effectLst/>
                <a:latin typeface="Arial" panose="020B0604020202020204" pitchFamily="34" charset="0"/>
              </a:rPr>
            </a:br>
            <a:r>
              <a:rPr kumimoji="0" lang="en-US" altLang="en-US" sz="1800" b="0" i="0" u="none" strike="noStrike" cap="none" normalizeH="0" baseline="0" dirty="0">
                <a:ln>
                  <a:noFill/>
                </a:ln>
                <a:solidFill>
                  <a:schemeClr val="tx1"/>
                </a:solidFill>
                <a:effectLst/>
                <a:latin typeface="Arial" panose="020B0604020202020204" pitchFamily="34" charset="0"/>
              </a:rPr>
              <a:t>Ensures all user functionalities are mapped to system logic clearly.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800" dirty="0">
                <a:solidFill>
                  <a:schemeClr val="tx1"/>
                </a:solidFill>
                <a:latin typeface="Arial" panose="020B0604020202020204" pitchFamily="34" charset="0"/>
              </a:rPr>
              <a:t>We did user stories : 1,2,3,4,6,7</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5293387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48DD4-4828-CE87-0C5C-42BE175E8DA5}"/>
              </a:ext>
            </a:extLst>
          </p:cNvPr>
          <p:cNvSpPr>
            <a:spLocks noGrp="1"/>
          </p:cNvSpPr>
          <p:nvPr>
            <p:ph type="title"/>
          </p:nvPr>
        </p:nvSpPr>
        <p:spPr>
          <a:xfrm>
            <a:off x="0" y="550607"/>
            <a:ext cx="5919019" cy="941869"/>
          </a:xfrm>
        </p:spPr>
        <p:txBody>
          <a:bodyPr anchor="b">
            <a:normAutofit/>
          </a:bodyPr>
          <a:lstStyle/>
          <a:p>
            <a:r>
              <a:rPr lang="en-US" b="1" dirty="0"/>
              <a:t>State Diagram</a:t>
            </a:r>
          </a:p>
        </p:txBody>
      </p:sp>
      <p:sp>
        <p:nvSpPr>
          <p:cNvPr id="9" name="TextBox 8">
            <a:extLst>
              <a:ext uri="{FF2B5EF4-FFF2-40B4-BE49-F238E27FC236}">
                <a16:creationId xmlns:a16="http://schemas.microsoft.com/office/drawing/2014/main" id="{030E7F23-8F2E-D42A-04B7-BE10108D1D85}"/>
              </a:ext>
            </a:extLst>
          </p:cNvPr>
          <p:cNvSpPr txBox="1"/>
          <p:nvPr/>
        </p:nvSpPr>
        <p:spPr>
          <a:xfrm>
            <a:off x="275304" y="2278992"/>
            <a:ext cx="4227870" cy="2585323"/>
          </a:xfrm>
          <a:prstGeom prst="rect">
            <a:avLst/>
          </a:prstGeom>
          <a:noFill/>
        </p:spPr>
        <p:txBody>
          <a:bodyPr wrap="square">
            <a:spAutoFit/>
          </a:bodyPr>
          <a:lstStyle/>
          <a:p>
            <a:r>
              <a:rPr lang="en-US" dirty="0"/>
              <a:t>Focuses on the </a:t>
            </a:r>
            <a:r>
              <a:rPr lang="en-US" b="1" dirty="0"/>
              <a:t>User class</a:t>
            </a:r>
            <a:r>
              <a:rPr lang="en-US" dirty="0"/>
              <a:t>, showing states like logged in, editing profile, or managing budgets.</a:t>
            </a:r>
            <a:br>
              <a:rPr lang="en-US" dirty="0"/>
            </a:br>
            <a:r>
              <a:rPr lang="en-US" dirty="0"/>
              <a:t>Captures dynamic behavior and transitions based on user actions.</a:t>
            </a:r>
            <a:br>
              <a:rPr lang="en-US" dirty="0"/>
            </a:br>
            <a:r>
              <a:rPr lang="en-US" dirty="0"/>
              <a:t>Useful for understanding lifecycle and edge cases.</a:t>
            </a:r>
            <a:br>
              <a:rPr lang="en-US" dirty="0"/>
            </a:br>
            <a:r>
              <a:rPr lang="en-US" dirty="0"/>
              <a:t>Enhances system reliability through clear state management.</a:t>
            </a:r>
          </a:p>
        </p:txBody>
      </p:sp>
      <p:pic>
        <p:nvPicPr>
          <p:cNvPr id="4" name="Picture 3" descr="A diagram of a login&#10;&#10;AI-generated content may be incorrect.">
            <a:extLst>
              <a:ext uri="{FF2B5EF4-FFF2-40B4-BE49-F238E27FC236}">
                <a16:creationId xmlns:a16="http://schemas.microsoft.com/office/drawing/2014/main" id="{54B52DAB-09EF-386D-8C3F-6073F978FD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81038" y="1420537"/>
            <a:ext cx="6063615" cy="3693160"/>
          </a:xfrm>
          <a:prstGeom prst="rect">
            <a:avLst/>
          </a:prstGeom>
        </p:spPr>
      </p:pic>
    </p:spTree>
    <p:extLst>
      <p:ext uri="{BB962C8B-B14F-4D97-AF65-F5344CB8AC3E}">
        <p14:creationId xmlns:p14="http://schemas.microsoft.com/office/powerpoint/2010/main" val="776019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F9E134-98AA-3ECE-E40A-180C85ACD7D5}"/>
              </a:ext>
            </a:extLst>
          </p:cNvPr>
          <p:cNvSpPr>
            <a:spLocks noGrp="1"/>
          </p:cNvSpPr>
          <p:nvPr>
            <p:ph type="title"/>
          </p:nvPr>
        </p:nvSpPr>
        <p:spPr>
          <a:xfrm>
            <a:off x="1167492" y="136526"/>
            <a:ext cx="9601200" cy="1653371"/>
          </a:xfrm>
        </p:spPr>
        <p:txBody>
          <a:bodyPr/>
          <a:lstStyle/>
          <a:p>
            <a:r>
              <a:rPr lang="en-US" dirty="0"/>
              <a:t>SOLID Principles</a:t>
            </a:r>
          </a:p>
        </p:txBody>
      </p:sp>
      <p:sp>
        <p:nvSpPr>
          <p:cNvPr id="8" name="Rectangle 2">
            <a:extLst>
              <a:ext uri="{FF2B5EF4-FFF2-40B4-BE49-F238E27FC236}">
                <a16:creationId xmlns:a16="http://schemas.microsoft.com/office/drawing/2014/main" id="{C18C8363-1151-CA2E-E25A-AAE513C9627F}"/>
              </a:ext>
            </a:extLst>
          </p:cNvPr>
          <p:cNvSpPr>
            <a:spLocks noGrp="1" noChangeArrowheads="1"/>
          </p:cNvSpPr>
          <p:nvPr>
            <p:ph idx="1"/>
          </p:nvPr>
        </p:nvSpPr>
        <p:spPr bwMode="auto">
          <a:xfrm>
            <a:off x="1166813" y="2489815"/>
            <a:ext cx="935370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latin typeface="Arial" panose="020B0604020202020204" pitchFamily="34" charset="0"/>
              </a:rPr>
              <a:t>Applies all five SOLID principles for clean and maintainable code.</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0" i="0" u="none" strike="noStrike" cap="none" normalizeH="0" baseline="0" dirty="0">
                <a:ln>
                  <a:noFill/>
                </a:ln>
                <a:solidFill>
                  <a:schemeClr val="tx1"/>
                </a:solidFill>
                <a:effectLst/>
                <a:latin typeface="Arial" panose="020B0604020202020204" pitchFamily="34" charset="0"/>
              </a:rPr>
              <a:t>Example: </a:t>
            </a:r>
            <a:r>
              <a:rPr kumimoji="0" lang="en-US" altLang="en-US" sz="2500" b="1" i="0" u="none" strike="noStrike" cap="none" normalizeH="0" baseline="0" dirty="0" err="1">
                <a:ln>
                  <a:noFill/>
                </a:ln>
                <a:solidFill>
                  <a:schemeClr val="tx1"/>
                </a:solidFill>
                <a:effectLst/>
                <a:latin typeface="Arial Unicode MS"/>
              </a:rPr>
              <a:t>AuthManager</a:t>
            </a:r>
            <a:r>
              <a:rPr kumimoji="0" lang="en-US" altLang="en-US" sz="2500" b="0" i="0" u="none" strike="noStrike" cap="none" normalizeH="0" baseline="0" dirty="0">
                <a:ln>
                  <a:noFill/>
                </a:ln>
                <a:solidFill>
                  <a:schemeClr val="tx1"/>
                </a:solidFill>
                <a:effectLst/>
              </a:rPr>
              <a:t> follows </a:t>
            </a:r>
            <a:r>
              <a:rPr kumimoji="0" lang="en-US" altLang="en-US" sz="2500" b="1" i="0" u="none" strike="noStrike" cap="none" normalizeH="0" baseline="0" dirty="0">
                <a:ln>
                  <a:noFill/>
                </a:ln>
                <a:solidFill>
                  <a:schemeClr val="tx1"/>
                </a:solidFill>
                <a:effectLst/>
              </a:rPr>
              <a:t>Single Responsibility</a:t>
            </a:r>
            <a:r>
              <a:rPr kumimoji="0" lang="en-US" altLang="en-US" sz="2500" b="0" i="0" u="none" strike="noStrike" cap="none" normalizeH="0" baseline="0" dirty="0">
                <a:ln>
                  <a:noFill/>
                </a:ln>
                <a:solidFill>
                  <a:schemeClr val="tx1"/>
                </a:solidFill>
                <a:effectLst/>
              </a:rPr>
              <a:t>, and </a:t>
            </a:r>
            <a:r>
              <a:rPr kumimoji="0" lang="en-US" altLang="en-US" sz="2500" b="1" i="0" u="none" strike="noStrike" cap="none" normalizeH="0" baseline="0" dirty="0" err="1">
                <a:ln>
                  <a:noFill/>
                </a:ln>
                <a:solidFill>
                  <a:schemeClr val="tx1"/>
                </a:solidFill>
                <a:effectLst/>
                <a:latin typeface="Arial Unicode MS"/>
              </a:rPr>
              <a:t>IManager</a:t>
            </a:r>
            <a:r>
              <a:rPr kumimoji="0" lang="en-US" altLang="en-US" sz="2500" b="0" i="0" u="none" strike="noStrike" cap="none" normalizeH="0" baseline="0" dirty="0">
                <a:ln>
                  <a:noFill/>
                </a:ln>
                <a:solidFill>
                  <a:schemeClr val="tx1"/>
                </a:solidFill>
                <a:effectLst/>
              </a:rPr>
              <a:t> supports </a:t>
            </a:r>
            <a:r>
              <a:rPr kumimoji="0" lang="en-US" altLang="en-US" sz="2500" b="1" i="0" u="none" strike="noStrike" cap="none" normalizeH="0" baseline="0" dirty="0">
                <a:ln>
                  <a:noFill/>
                </a:ln>
                <a:solidFill>
                  <a:schemeClr val="tx1"/>
                </a:solidFill>
                <a:effectLst/>
              </a:rPr>
              <a:t>Interface Segregation</a:t>
            </a:r>
            <a:r>
              <a:rPr kumimoji="0" lang="en-US" altLang="en-US" sz="2500" b="0" i="0" u="none" strike="noStrike" cap="none" normalizeH="0" baseline="0" dirty="0">
                <a:ln>
                  <a:noFill/>
                </a:ln>
                <a:solidFill>
                  <a:schemeClr val="tx1"/>
                </a:solidFill>
                <a:effectLst/>
              </a:rPr>
              <a:t>.</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1" i="0" u="none" strike="noStrike" cap="none" normalizeH="0" baseline="0" dirty="0">
                <a:ln>
                  <a:noFill/>
                </a:ln>
                <a:solidFill>
                  <a:schemeClr val="tx1"/>
                </a:solidFill>
                <a:effectLst/>
                <a:latin typeface="Arial" panose="020B0604020202020204" pitchFamily="34" charset="0"/>
              </a:rPr>
              <a:t>Open/Closed principle </a:t>
            </a:r>
            <a:r>
              <a:rPr kumimoji="0" lang="en-US" altLang="en-US" sz="2500" b="0" i="0" u="none" strike="noStrike" cap="none" normalizeH="0" baseline="0" dirty="0">
                <a:ln>
                  <a:noFill/>
                </a:ln>
                <a:solidFill>
                  <a:schemeClr val="tx1"/>
                </a:solidFill>
                <a:effectLst/>
                <a:latin typeface="Arial" panose="020B0604020202020204" pitchFamily="34" charset="0"/>
              </a:rPr>
              <a:t>is applied by extending without modifying existing classes.</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0" i="0" u="none" strike="noStrike" cap="none" normalizeH="0" baseline="0" dirty="0">
                <a:ln>
                  <a:noFill/>
                </a:ln>
                <a:solidFill>
                  <a:schemeClr val="tx1"/>
                </a:solidFill>
                <a:effectLst/>
                <a:latin typeface="Arial" panose="020B0604020202020204" pitchFamily="34" charset="0"/>
              </a:rPr>
              <a:t>Encourages modular, testable, and scalable design. </a:t>
            </a:r>
          </a:p>
        </p:txBody>
      </p:sp>
    </p:spTree>
    <p:extLst>
      <p:ext uri="{BB962C8B-B14F-4D97-AF65-F5344CB8AC3E}">
        <p14:creationId xmlns:p14="http://schemas.microsoft.com/office/powerpoint/2010/main" val="12659396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F9E134-98AA-3ECE-E40A-180C85ACD7D5}"/>
              </a:ext>
            </a:extLst>
          </p:cNvPr>
          <p:cNvSpPr>
            <a:spLocks noGrp="1"/>
          </p:cNvSpPr>
          <p:nvPr>
            <p:ph type="title"/>
          </p:nvPr>
        </p:nvSpPr>
        <p:spPr>
          <a:xfrm>
            <a:off x="1167492" y="136526"/>
            <a:ext cx="9601200" cy="1653371"/>
          </a:xfrm>
        </p:spPr>
        <p:txBody>
          <a:bodyPr/>
          <a:lstStyle/>
          <a:p>
            <a:r>
              <a:rPr lang="en-US" dirty="0"/>
              <a:t>Design Patterns</a:t>
            </a:r>
          </a:p>
        </p:txBody>
      </p:sp>
      <p:sp>
        <p:nvSpPr>
          <p:cNvPr id="3" name="Content Placeholder 2">
            <a:extLst>
              <a:ext uri="{FF2B5EF4-FFF2-40B4-BE49-F238E27FC236}">
                <a16:creationId xmlns:a16="http://schemas.microsoft.com/office/drawing/2014/main" id="{C932D3B2-9041-250A-B758-072CFA39DFB6}"/>
              </a:ext>
            </a:extLst>
          </p:cNvPr>
          <p:cNvSpPr>
            <a:spLocks noGrp="1" noChangeArrowheads="1"/>
          </p:cNvSpPr>
          <p:nvPr>
            <p:ph idx="1"/>
          </p:nvPr>
        </p:nvSpPr>
        <p:spPr bwMode="auto">
          <a:xfrm>
            <a:off x="907871" y="2135854"/>
            <a:ext cx="10376258"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500" b="0" i="0" u="none" strike="noStrike" cap="none" normalizeH="0" baseline="0" dirty="0">
                <a:ln>
                  <a:noFill/>
                </a:ln>
                <a:solidFill>
                  <a:schemeClr val="tx1"/>
                </a:solidFill>
                <a:effectLst/>
                <a:latin typeface="Arial" panose="020B0604020202020204" pitchFamily="34" charset="0"/>
              </a:rPr>
              <a:t>Implements </a:t>
            </a:r>
            <a:r>
              <a:rPr kumimoji="0" lang="en-US" altLang="en-US" sz="2500" b="1" i="0" u="none" strike="noStrike" cap="none" normalizeH="0" baseline="0" dirty="0">
                <a:ln>
                  <a:noFill/>
                </a:ln>
                <a:solidFill>
                  <a:schemeClr val="tx1"/>
                </a:solidFill>
                <a:effectLst/>
                <a:latin typeface="Arial" panose="020B0604020202020204" pitchFamily="34" charset="0"/>
              </a:rPr>
              <a:t>Strategy Pattern</a:t>
            </a:r>
            <a:r>
              <a:rPr kumimoji="0" lang="en-US" altLang="en-US" sz="2500" b="0" i="0" u="none" strike="noStrike" cap="none" normalizeH="0" baseline="0" dirty="0">
                <a:ln>
                  <a:noFill/>
                </a:ln>
                <a:solidFill>
                  <a:schemeClr val="tx1"/>
                </a:solidFill>
                <a:effectLst/>
                <a:latin typeface="Arial" panose="020B0604020202020204" pitchFamily="34" charset="0"/>
              </a:rPr>
              <a:t> for managers (</a:t>
            </a:r>
            <a:r>
              <a:rPr kumimoji="0" lang="en-US" altLang="en-US" sz="2500" b="0" i="0" u="none" strike="noStrike" cap="none" normalizeH="0" baseline="0" dirty="0" err="1">
                <a:ln>
                  <a:noFill/>
                </a:ln>
                <a:solidFill>
                  <a:schemeClr val="tx1"/>
                </a:solidFill>
                <a:effectLst/>
                <a:latin typeface="Arial Unicode MS"/>
              </a:rPr>
              <a:t>IncomeManager</a:t>
            </a:r>
            <a:r>
              <a:rPr kumimoji="0" lang="en-US" altLang="en-US" sz="2500" b="0" i="0" u="none" strike="noStrike" cap="none" normalizeH="0" baseline="0" dirty="0">
                <a:ln>
                  <a:noFill/>
                </a:ln>
                <a:solidFill>
                  <a:schemeClr val="tx1"/>
                </a:solidFill>
                <a:effectLst/>
              </a:rPr>
              <a:t>, </a:t>
            </a:r>
            <a:r>
              <a:rPr kumimoji="0" lang="en-US" altLang="en-US" sz="2500" b="0" i="0" u="none" strike="noStrike" cap="none" normalizeH="0" baseline="0" dirty="0" err="1">
                <a:ln>
                  <a:noFill/>
                </a:ln>
                <a:solidFill>
                  <a:schemeClr val="tx1"/>
                </a:solidFill>
                <a:effectLst/>
                <a:latin typeface="Arial Unicode MS"/>
              </a:rPr>
              <a:t>BudgetManager</a:t>
            </a:r>
            <a:r>
              <a:rPr kumimoji="0" lang="en-US" altLang="en-US" sz="2500" b="0" i="0" u="none" strike="noStrike" cap="none" normalizeH="0" baseline="0" dirty="0">
                <a:ln>
                  <a:noFill/>
                </a:ln>
                <a:solidFill>
                  <a:schemeClr val="tx1"/>
                </a:solidFill>
                <a:effectLst/>
              </a:rPr>
              <a:t>, etc.).</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1" i="0" u="none" strike="noStrike" cap="none" normalizeH="0" baseline="0" dirty="0">
                <a:ln>
                  <a:noFill/>
                </a:ln>
                <a:solidFill>
                  <a:schemeClr val="tx1"/>
                </a:solidFill>
                <a:effectLst/>
                <a:latin typeface="Arial" panose="020B0604020202020204" pitchFamily="34" charset="0"/>
              </a:rPr>
              <a:t>Factory Pattern</a:t>
            </a:r>
            <a:r>
              <a:rPr kumimoji="0" lang="en-US" altLang="en-US" sz="2500" b="0" i="0" u="none" strike="noStrike" cap="none" normalizeH="0" baseline="0" dirty="0">
                <a:ln>
                  <a:noFill/>
                </a:ln>
                <a:solidFill>
                  <a:schemeClr val="tx1"/>
                </a:solidFill>
                <a:effectLst/>
                <a:latin typeface="Arial" panose="020B0604020202020204" pitchFamily="34" charset="0"/>
              </a:rPr>
              <a:t> is used for payment method creation (</a:t>
            </a:r>
            <a:r>
              <a:rPr kumimoji="0" lang="en-US" altLang="en-US" sz="2500" b="0" i="0" u="none" strike="noStrike" cap="none" normalizeH="0" baseline="0" dirty="0" err="1">
                <a:ln>
                  <a:noFill/>
                </a:ln>
                <a:solidFill>
                  <a:schemeClr val="tx1"/>
                </a:solidFill>
                <a:effectLst/>
                <a:latin typeface="Arial Unicode MS"/>
              </a:rPr>
              <a:t>CreditCard</a:t>
            </a:r>
            <a:r>
              <a:rPr kumimoji="0" lang="en-US" altLang="en-US" sz="2500" b="0" i="0" u="none" strike="noStrike" cap="none" normalizeH="0" baseline="0" dirty="0">
                <a:ln>
                  <a:noFill/>
                </a:ln>
                <a:solidFill>
                  <a:schemeClr val="tx1"/>
                </a:solidFill>
                <a:effectLst/>
              </a:rPr>
              <a:t>, </a:t>
            </a:r>
            <a:r>
              <a:rPr kumimoji="0" lang="en-US" altLang="en-US" sz="2500" b="0" i="0" u="none" strike="noStrike" cap="none" normalizeH="0" baseline="0" dirty="0" err="1">
                <a:ln>
                  <a:noFill/>
                </a:ln>
                <a:solidFill>
                  <a:schemeClr val="tx1"/>
                </a:solidFill>
                <a:effectLst/>
                <a:latin typeface="Arial Unicode MS"/>
              </a:rPr>
              <a:t>EWallet</a:t>
            </a:r>
            <a:r>
              <a:rPr kumimoji="0" lang="en-US" altLang="en-US" sz="2500" b="0" i="0" u="none" strike="noStrike" cap="none" normalizeH="0" baseline="0" dirty="0">
                <a:ln>
                  <a:noFill/>
                </a:ln>
                <a:solidFill>
                  <a:schemeClr val="tx1"/>
                </a:solidFill>
                <a:effectLst/>
              </a:rPr>
              <a:t>).</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1" i="0" u="none" strike="noStrike" cap="none" normalizeH="0" baseline="0" dirty="0">
                <a:ln>
                  <a:noFill/>
                </a:ln>
                <a:solidFill>
                  <a:schemeClr val="tx1"/>
                </a:solidFill>
                <a:effectLst/>
                <a:latin typeface="Arial" panose="020B0604020202020204" pitchFamily="34" charset="0"/>
              </a:rPr>
              <a:t>Singleton Pattern</a:t>
            </a:r>
            <a:r>
              <a:rPr kumimoji="0" lang="en-US" altLang="en-US" sz="2500" b="0" i="0" u="none" strike="noStrike" cap="none" normalizeH="0" baseline="0" dirty="0">
                <a:ln>
                  <a:noFill/>
                </a:ln>
                <a:solidFill>
                  <a:schemeClr val="tx1"/>
                </a:solidFill>
                <a:effectLst/>
                <a:latin typeface="Arial" panose="020B0604020202020204" pitchFamily="34" charset="0"/>
              </a:rPr>
              <a:t> is applied to the </a:t>
            </a:r>
            <a:r>
              <a:rPr kumimoji="0" lang="en-US" altLang="en-US" sz="2500" b="0" i="0" u="none" strike="noStrike" cap="none" normalizeH="0" baseline="0" dirty="0">
                <a:ln>
                  <a:noFill/>
                </a:ln>
                <a:solidFill>
                  <a:schemeClr val="tx1"/>
                </a:solidFill>
                <a:effectLst/>
                <a:latin typeface="Arial Unicode MS"/>
              </a:rPr>
              <a:t>Database</a:t>
            </a:r>
            <a:r>
              <a:rPr kumimoji="0" lang="en-US" altLang="en-US" sz="2500" b="0" i="0" u="none" strike="noStrike" cap="none" normalizeH="0" baseline="0" dirty="0">
                <a:ln>
                  <a:noFill/>
                </a:ln>
                <a:solidFill>
                  <a:schemeClr val="tx1"/>
                </a:solidFill>
                <a:effectLst/>
              </a:rPr>
              <a:t> class for global access.</a:t>
            </a:r>
            <a:br>
              <a:rPr kumimoji="0" lang="en-US" altLang="en-US" sz="2500" b="0" i="0" u="none" strike="noStrike" cap="none" normalizeH="0" baseline="0" dirty="0">
                <a:ln>
                  <a:noFill/>
                </a:ln>
                <a:solidFill>
                  <a:schemeClr val="tx1"/>
                </a:solidFill>
                <a:effectLst/>
                <a:latin typeface="Arial" panose="020B0604020202020204" pitchFamily="34" charset="0"/>
              </a:rPr>
            </a:br>
            <a:r>
              <a:rPr kumimoji="0" lang="en-US" altLang="en-US" sz="2500" b="0" i="0" u="none" strike="noStrike" cap="none" normalizeH="0" baseline="0" dirty="0">
                <a:ln>
                  <a:noFill/>
                </a:ln>
                <a:solidFill>
                  <a:schemeClr val="tx1"/>
                </a:solidFill>
                <a:effectLst/>
                <a:latin typeface="Arial" panose="020B0604020202020204" pitchFamily="34" charset="0"/>
              </a:rPr>
              <a:t>These patterns improve flexibility, code reuse, and system consistency. </a:t>
            </a:r>
          </a:p>
        </p:txBody>
      </p:sp>
    </p:spTree>
    <p:extLst>
      <p:ext uri="{BB962C8B-B14F-4D97-AF65-F5344CB8AC3E}">
        <p14:creationId xmlns:p14="http://schemas.microsoft.com/office/powerpoint/2010/main" val="36435917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F9E134-98AA-3ECE-E40A-180C85ACD7D5}"/>
              </a:ext>
            </a:extLst>
          </p:cNvPr>
          <p:cNvSpPr>
            <a:spLocks noGrp="1"/>
          </p:cNvSpPr>
          <p:nvPr>
            <p:ph type="title"/>
          </p:nvPr>
        </p:nvSpPr>
        <p:spPr>
          <a:xfrm>
            <a:off x="1167492" y="136526"/>
            <a:ext cx="9601200" cy="1653371"/>
          </a:xfrm>
        </p:spPr>
        <p:txBody>
          <a:bodyPr/>
          <a:lstStyle/>
          <a:p>
            <a:r>
              <a:rPr lang="en-US" dirty="0"/>
              <a:t>Tools </a:t>
            </a:r>
          </a:p>
        </p:txBody>
      </p:sp>
      <p:sp>
        <p:nvSpPr>
          <p:cNvPr id="3" name="Content Placeholder 2">
            <a:extLst>
              <a:ext uri="{FF2B5EF4-FFF2-40B4-BE49-F238E27FC236}">
                <a16:creationId xmlns:a16="http://schemas.microsoft.com/office/drawing/2014/main" id="{C932D3B2-9041-250A-B758-072CFA39DFB6}"/>
              </a:ext>
            </a:extLst>
          </p:cNvPr>
          <p:cNvSpPr>
            <a:spLocks noGrp="1" noChangeArrowheads="1"/>
          </p:cNvSpPr>
          <p:nvPr>
            <p:ph idx="1"/>
          </p:nvPr>
        </p:nvSpPr>
        <p:spPr bwMode="auto">
          <a:xfrm>
            <a:off x="907871" y="2520574"/>
            <a:ext cx="10376258"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sz="2500" dirty="0"/>
              <a:t>Used </a:t>
            </a:r>
            <a:r>
              <a:rPr lang="en-US" sz="2500" b="1" dirty="0"/>
              <a:t>Draw.io</a:t>
            </a:r>
            <a:r>
              <a:rPr lang="en-US" sz="2500" dirty="0"/>
              <a:t> and </a:t>
            </a:r>
            <a:r>
              <a:rPr lang="en-US" sz="2500" b="1" dirty="0" err="1"/>
              <a:t>PlantUML</a:t>
            </a:r>
            <a:r>
              <a:rPr lang="en-US" sz="2500" dirty="0"/>
              <a:t> for diagrams and modeling.</a:t>
            </a:r>
            <a:br>
              <a:rPr lang="en-US" sz="2500" dirty="0"/>
            </a:br>
            <a:r>
              <a:rPr lang="en-US" sz="2500" dirty="0"/>
              <a:t>These tools ensure clear and professional visual documentation.</a:t>
            </a:r>
            <a:br>
              <a:rPr lang="en-US" sz="2500" dirty="0"/>
            </a:br>
            <a:r>
              <a:rPr lang="en-US" sz="2500" dirty="0"/>
              <a:t>Support team collaboration and iterative design.</a:t>
            </a:r>
            <a:br>
              <a:rPr lang="en-US" sz="2500" dirty="0"/>
            </a:br>
            <a:r>
              <a:rPr lang="en-US" sz="2500" dirty="0"/>
              <a:t>Helpful for maintaining a unified design standard throughout the project.</a:t>
            </a:r>
            <a:endParaRPr kumimoji="0" lang="en-US" altLang="en-US" sz="25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243522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30EEF-8344-EAF6-E050-354F561B066A}"/>
              </a:ext>
            </a:extLst>
          </p:cNvPr>
          <p:cNvSpPr>
            <a:spLocks noGrp="1"/>
          </p:cNvSpPr>
          <p:nvPr>
            <p:ph type="ctrTitle"/>
          </p:nvPr>
        </p:nvSpPr>
        <p:spPr>
          <a:xfrm>
            <a:off x="913493" y="212593"/>
            <a:ext cx="8017147" cy="3830130"/>
          </a:xfrm>
        </p:spPr>
        <p:txBody>
          <a:bodyPr/>
          <a:lstStyle/>
          <a:p>
            <a:r>
              <a:rPr lang="en-US" dirty="0"/>
              <a:t>Tech Radar Technology</a:t>
            </a:r>
          </a:p>
        </p:txBody>
      </p:sp>
    </p:spTree>
    <p:extLst>
      <p:ext uri="{BB962C8B-B14F-4D97-AF65-F5344CB8AC3E}">
        <p14:creationId xmlns:p14="http://schemas.microsoft.com/office/powerpoint/2010/main" val="41092597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F9E134-98AA-3ECE-E40A-180C85ACD7D5}"/>
              </a:ext>
            </a:extLst>
          </p:cNvPr>
          <p:cNvSpPr>
            <a:spLocks noGrp="1"/>
          </p:cNvSpPr>
          <p:nvPr>
            <p:ph type="title"/>
          </p:nvPr>
        </p:nvSpPr>
        <p:spPr>
          <a:xfrm>
            <a:off x="1167492" y="136526"/>
            <a:ext cx="9601200" cy="1653371"/>
          </a:xfrm>
        </p:spPr>
        <p:txBody>
          <a:bodyPr anchor="b">
            <a:normAutofit/>
          </a:bodyPr>
          <a:lstStyle/>
          <a:p>
            <a:r>
              <a:rPr lang="en-US" dirty="0"/>
              <a:t>Claude Sonnet </a:t>
            </a:r>
          </a:p>
        </p:txBody>
      </p:sp>
      <p:sp>
        <p:nvSpPr>
          <p:cNvPr id="3" name="Content Placeholder 2">
            <a:extLst>
              <a:ext uri="{FF2B5EF4-FFF2-40B4-BE49-F238E27FC236}">
                <a16:creationId xmlns:a16="http://schemas.microsoft.com/office/drawing/2014/main" id="{C932D3B2-9041-250A-B758-072CFA39DFB6}"/>
              </a:ext>
            </a:extLst>
          </p:cNvPr>
          <p:cNvSpPr>
            <a:spLocks noGrp="1" noChangeArrowheads="1"/>
          </p:cNvSpPr>
          <p:nvPr>
            <p:ph idx="1"/>
          </p:nvPr>
        </p:nvSpPr>
        <p:spPr bwMode="auto">
          <a:xfrm>
            <a:off x="1167492" y="1922384"/>
            <a:ext cx="9520828" cy="3332832"/>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Autofit/>
          </a:bodyPr>
          <a:lstStyle/>
          <a:p>
            <a:pPr marL="0" marR="0" lvl="0" indent="0" defTabSz="914400" rtl="0" eaLnBrk="0" fontAlgn="base" latinLnBrk="0" hangingPunct="0">
              <a:spcBef>
                <a:spcPct val="0"/>
              </a:spcBef>
              <a:spcAft>
                <a:spcPts val="600"/>
              </a:spcAft>
              <a:buClrTx/>
              <a:buSzTx/>
              <a:buFontTx/>
              <a:buNone/>
              <a:tabLst/>
            </a:pPr>
            <a:r>
              <a:rPr kumimoji="0" lang="en-US" altLang="en-US" sz="2800" b="0" i="0" u="none" strike="noStrike" cap="none" normalizeH="0" baseline="0" dirty="0">
                <a:ln>
                  <a:noFill/>
                </a:ln>
                <a:effectLst/>
              </a:rPr>
              <a:t>Claude Sonnet is an advanced language model that excels in coding, writing, analysis and visual processing, refers to a series of advanced AI models in Anthropic’s Claude family, designed as mid-tier models that balance capability and performance. </a:t>
            </a:r>
          </a:p>
          <a:p>
            <a:pPr marL="0" marR="0" lvl="0" indent="0" defTabSz="914400" rtl="0" eaLnBrk="0" fontAlgn="base" latinLnBrk="0" hangingPunct="0">
              <a:spcBef>
                <a:spcPct val="0"/>
              </a:spcBef>
              <a:spcAft>
                <a:spcPts val="600"/>
              </a:spcAft>
              <a:buClrTx/>
              <a:buSzTx/>
              <a:buFontTx/>
              <a:buNone/>
              <a:tabLst/>
            </a:pPr>
            <a:r>
              <a:rPr kumimoji="0" lang="en-US" altLang="en-US" sz="2800" b="0" i="0" u="none" strike="noStrike" cap="none" normalizeH="0" baseline="0" dirty="0">
                <a:ln>
                  <a:noFill/>
                </a:ln>
                <a:effectLst/>
              </a:rPr>
              <a:t>It is among the strongest AI coding assistants available, but it should be used responsibly. It significantly aids productivity, especially in early design and heavy coding tasks, but all outputs should be validated. </a:t>
            </a:r>
          </a:p>
          <a:p>
            <a:pPr marL="0" marR="0" lvl="0" indent="0" defTabSz="914400" rtl="0" eaLnBrk="0" fontAlgn="base" latinLnBrk="0" hangingPunct="0">
              <a:spcBef>
                <a:spcPct val="0"/>
              </a:spcBef>
              <a:spcAft>
                <a:spcPts val="600"/>
              </a:spcAft>
              <a:buClrTx/>
              <a:buSzTx/>
              <a:buFontTx/>
              <a:buNone/>
              <a:tabLst/>
            </a:pPr>
            <a:endParaRPr kumimoji="0" lang="en-US" altLang="en-US" sz="2800" b="0" i="0" u="none" strike="noStrike" cap="none" normalizeH="0" baseline="0" dirty="0">
              <a:ln>
                <a:noFill/>
              </a:ln>
              <a:effectLst/>
            </a:endParaRPr>
          </a:p>
        </p:txBody>
      </p:sp>
    </p:spTree>
    <p:extLst>
      <p:ext uri="{BB962C8B-B14F-4D97-AF65-F5344CB8AC3E}">
        <p14:creationId xmlns:p14="http://schemas.microsoft.com/office/powerpoint/2010/main" val="568327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933EB-0838-80DA-4217-6DB1342E81EA}"/>
              </a:ext>
            </a:extLst>
          </p:cNvPr>
          <p:cNvSpPr>
            <a:spLocks noGrp="1"/>
          </p:cNvSpPr>
          <p:nvPr>
            <p:ph type="title"/>
          </p:nvPr>
        </p:nvSpPr>
        <p:spPr/>
        <p:txBody>
          <a:bodyPr/>
          <a:lstStyle/>
          <a:p>
            <a:r>
              <a:rPr lang="en-US" dirty="0"/>
              <a:t>UV</a:t>
            </a:r>
          </a:p>
        </p:txBody>
      </p:sp>
      <p:sp>
        <p:nvSpPr>
          <p:cNvPr id="3" name="Content Placeholder 2">
            <a:extLst>
              <a:ext uri="{FF2B5EF4-FFF2-40B4-BE49-F238E27FC236}">
                <a16:creationId xmlns:a16="http://schemas.microsoft.com/office/drawing/2014/main" id="{FFE0CA09-CA4E-759E-C6DF-2A35EE63424E}"/>
              </a:ext>
            </a:extLst>
          </p:cNvPr>
          <p:cNvSpPr>
            <a:spLocks noGrp="1"/>
          </p:cNvSpPr>
          <p:nvPr>
            <p:ph idx="1"/>
          </p:nvPr>
        </p:nvSpPr>
        <p:spPr/>
        <p:txBody>
          <a:bodyPr/>
          <a:lstStyle/>
          <a:p>
            <a:r>
              <a:rPr lang="en-US" dirty="0" err="1"/>
              <a:t>Uv</a:t>
            </a:r>
            <a:r>
              <a:rPr lang="en-US" dirty="0"/>
              <a:t> is a modern and characteristically fast python package manager written in Rust. It is designed to fully replace the default package manger pip, and to significantly enhance Python development.</a:t>
            </a:r>
          </a:p>
          <a:p>
            <a:r>
              <a:rPr lang="en-US" dirty="0"/>
              <a:t>The main selling point of </a:t>
            </a:r>
            <a:r>
              <a:rPr lang="en-US" dirty="0" err="1"/>
              <a:t>uv</a:t>
            </a:r>
            <a:r>
              <a:rPr lang="en-US" dirty="0"/>
              <a:t> is speed. On average in benchmark tests, </a:t>
            </a:r>
            <a:r>
              <a:rPr lang="en-US" dirty="0" err="1"/>
              <a:t>uv</a:t>
            </a:r>
            <a:r>
              <a:rPr lang="en-US" dirty="0"/>
              <a:t> installs dependencies 10-100x faster than pip. This is due to </a:t>
            </a:r>
            <a:r>
              <a:rPr lang="en-US" dirty="0" err="1"/>
              <a:t>uv</a:t>
            </a:r>
            <a:r>
              <a:rPr lang="en-US" dirty="0"/>
              <a:t> utilizing parallel downloading and Rust’s native speed</a:t>
            </a:r>
          </a:p>
        </p:txBody>
      </p:sp>
    </p:spTree>
    <p:extLst>
      <p:ext uri="{BB962C8B-B14F-4D97-AF65-F5344CB8AC3E}">
        <p14:creationId xmlns:p14="http://schemas.microsoft.com/office/powerpoint/2010/main" val="32419330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65CA8-58BB-5641-6D48-5C1AD3482257}"/>
              </a:ext>
            </a:extLst>
          </p:cNvPr>
          <p:cNvSpPr>
            <a:spLocks noGrp="1"/>
          </p:cNvSpPr>
          <p:nvPr>
            <p:ph type="title"/>
          </p:nvPr>
        </p:nvSpPr>
        <p:spPr/>
        <p:txBody>
          <a:bodyPr/>
          <a:lstStyle/>
          <a:p>
            <a:r>
              <a:rPr lang="en-US" dirty="0"/>
              <a:t>JSON Crack</a:t>
            </a:r>
          </a:p>
        </p:txBody>
      </p:sp>
      <p:sp>
        <p:nvSpPr>
          <p:cNvPr id="3" name="Content Placeholder 2">
            <a:extLst>
              <a:ext uri="{FF2B5EF4-FFF2-40B4-BE49-F238E27FC236}">
                <a16:creationId xmlns:a16="http://schemas.microsoft.com/office/drawing/2014/main" id="{63A32AC1-8288-A916-B193-9E05B81F6E6F}"/>
              </a:ext>
            </a:extLst>
          </p:cNvPr>
          <p:cNvSpPr>
            <a:spLocks noGrp="1"/>
          </p:cNvSpPr>
          <p:nvPr>
            <p:ph idx="1"/>
          </p:nvPr>
        </p:nvSpPr>
        <p:spPr>
          <a:xfrm>
            <a:off x="1158864" y="2108907"/>
            <a:ext cx="9779182" cy="3366815"/>
          </a:xfrm>
        </p:spPr>
        <p:txBody>
          <a:bodyPr>
            <a:normAutofit lnSpcReduction="10000"/>
          </a:bodyPr>
          <a:lstStyle/>
          <a:p>
            <a:r>
              <a:rPr lang="en-US" dirty="0">
                <a:effectLst/>
                <a:latin typeface="Calibri" panose="020F0502020204030204" pitchFamily="34" charset="0"/>
                <a:ea typeface="Calibri" panose="020F0502020204030204" pitchFamily="34" charset="0"/>
              </a:rPr>
              <a:t>JSON Crack is an open-source, user-friendly tool designed to visualize and manipulate structured data formats such as JSON, YAML, CSV, XML, and TOML. By transforming complex data into interactive graphs and tree views, it simplifies data exploration and analysis for developers, data analysts, and anyone working with structured datasets. Available as an online editor, a VS Code extension, and a Docker container, JSON Crack has gained significant popularity, boasting over 23.3K GitHub stars and millions of views.</a:t>
            </a:r>
          </a:p>
          <a:p>
            <a:endParaRPr lang="en-US" dirty="0"/>
          </a:p>
        </p:txBody>
      </p:sp>
    </p:spTree>
    <p:extLst>
      <p:ext uri="{BB962C8B-B14F-4D97-AF65-F5344CB8AC3E}">
        <p14:creationId xmlns:p14="http://schemas.microsoft.com/office/powerpoint/2010/main" val="35870755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1C753FD-96EC-101A-B8A4-5F69A189BEF4}"/>
              </a:ext>
            </a:extLst>
          </p:cNvPr>
          <p:cNvSpPr>
            <a:spLocks noGrp="1"/>
          </p:cNvSpPr>
          <p:nvPr>
            <p:ph type="ctrTitle"/>
          </p:nvPr>
        </p:nvSpPr>
        <p:spPr>
          <a:xfrm>
            <a:off x="1167494" y="252549"/>
            <a:ext cx="6220278" cy="3262811"/>
          </a:xfrm>
        </p:spPr>
        <p:txBody>
          <a:bodyPr/>
          <a:lstStyle/>
          <a:p>
            <a:r>
              <a:rPr lang="en-US" dirty="0"/>
              <a:t>Thank you</a:t>
            </a:r>
          </a:p>
        </p:txBody>
      </p:sp>
      <p:sp>
        <p:nvSpPr>
          <p:cNvPr id="5" name="Subtitle 4">
            <a:extLst>
              <a:ext uri="{FF2B5EF4-FFF2-40B4-BE49-F238E27FC236}">
                <a16:creationId xmlns:a16="http://schemas.microsoft.com/office/drawing/2014/main" id="{67BB04B7-47A4-741B-59E0-F0E6F2126E8F}"/>
              </a:ext>
            </a:extLst>
          </p:cNvPr>
          <p:cNvSpPr>
            <a:spLocks noGrp="1"/>
          </p:cNvSpPr>
          <p:nvPr>
            <p:ph type="subTitle" idx="1"/>
          </p:nvPr>
        </p:nvSpPr>
        <p:spPr>
          <a:xfrm>
            <a:off x="1167493" y="3685939"/>
            <a:ext cx="6220277" cy="2919512"/>
          </a:xfrm>
        </p:spPr>
        <p:txBody>
          <a:bodyPr/>
          <a:lstStyle/>
          <a:p>
            <a:r>
              <a:rPr lang="en-US" dirty="0"/>
              <a:t>Marawan mohamed </a:t>
            </a:r>
          </a:p>
          <a:p>
            <a:r>
              <a:rPr lang="en-US" dirty="0">
                <a:effectLst/>
                <a:latin typeface="Calibri" panose="020F0502020204030204" pitchFamily="34" charset="0"/>
                <a:ea typeface="Calibri" panose="020F0502020204030204" pitchFamily="34" charset="0"/>
                <a:cs typeface="Arial" panose="020B0604020202020204" pitchFamily="34" charset="0"/>
              </a:rPr>
              <a:t>Ziad Sabri</a:t>
            </a:r>
          </a:p>
          <a:p>
            <a:r>
              <a:rPr lang="en-US" dirty="0">
                <a:effectLst/>
                <a:latin typeface="Calibri" panose="020F0502020204030204" pitchFamily="34" charset="0"/>
                <a:ea typeface="Calibri" panose="020F0502020204030204" pitchFamily="34" charset="0"/>
                <a:cs typeface="Arial" panose="020B0604020202020204" pitchFamily="34" charset="0"/>
              </a:rPr>
              <a:t>Samir Sherif</a:t>
            </a:r>
            <a:endParaRPr lang="en-US" dirty="0"/>
          </a:p>
        </p:txBody>
      </p:sp>
    </p:spTree>
    <p:extLst>
      <p:ext uri="{BB962C8B-B14F-4D97-AF65-F5344CB8AC3E}">
        <p14:creationId xmlns:p14="http://schemas.microsoft.com/office/powerpoint/2010/main" val="1609673525"/>
      </p:ext>
    </p:extLst>
  </p:cSld>
  <p:clrMapOvr>
    <a:masterClrMapping/>
  </p:clrMapOvr>
</p:sld>
</file>

<file path=ppt/theme/theme1.xml><?xml version="1.0" encoding="utf-8"?>
<a:theme xmlns:a="http://schemas.openxmlformats.org/drawingml/2006/main" name="Custom">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45331398_Win32_SL_V13" id="{C59E605D-C281-4A06-BDA0-E97A35AC3AA8}" vid="{25D1D206-DA25-4050-926A-BD6D3A1B506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1E98C35-9ECE-4425-BCBA-00E118C705CE}">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5AA6A711-2C3F-4EC0-B88B-62D74085117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5A8381C-73EB-48EA-B45F-7B7C8C7DF409}">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{4CCA687A-E689-4291-9319-C0DF8F0B47FE}tf45331398_win32</Template>
  <TotalTime>120</TotalTime>
  <Words>791</Words>
  <Application>Microsoft Office PowerPoint</Application>
  <PresentationFormat>Widescreen</PresentationFormat>
  <Paragraphs>69</Paragraphs>
  <Slides>16</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Arial Unicode MS</vt:lpstr>
      <vt:lpstr>Calibri</vt:lpstr>
      <vt:lpstr>Tenorite</vt:lpstr>
      <vt:lpstr>Custom</vt:lpstr>
      <vt:lpstr>SDS</vt:lpstr>
      <vt:lpstr>Content </vt:lpstr>
      <vt:lpstr>Architecture Diagram  </vt:lpstr>
      <vt:lpstr>Class Diagram </vt:lpstr>
      <vt:lpstr>Class Description </vt:lpstr>
      <vt:lpstr>Class Description – continued </vt:lpstr>
      <vt:lpstr>Sequence Diagrams</vt:lpstr>
      <vt:lpstr>State Diagram</vt:lpstr>
      <vt:lpstr>SOLID Principles</vt:lpstr>
      <vt:lpstr>Design Patterns</vt:lpstr>
      <vt:lpstr>Tools </vt:lpstr>
      <vt:lpstr>Tech Radar Technology</vt:lpstr>
      <vt:lpstr>Claude Sonnet </vt:lpstr>
      <vt:lpstr>UV</vt:lpstr>
      <vt:lpstr>JSON Crack</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SDS</dc:title>
  <dc:creator>marawan mohamed</dc:creator>
  <cp:lastModifiedBy>سمير شريف شكرى عبدالهادى</cp:lastModifiedBy>
  <cp:revision>3</cp:revision>
  <dcterms:created xsi:type="dcterms:W3CDTF">2025-05-10T17:34:39Z</dcterms:created>
  <dcterms:modified xsi:type="dcterms:W3CDTF">2025-05-11T08:01:38Z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