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4"/>
  </p:notesMasterIdLst>
  <p:handoutMasterIdLst>
    <p:handoutMasterId r:id="rId25"/>
  </p:handoutMasterIdLst>
  <p:sldIdLst>
    <p:sldId id="256" r:id="rId5"/>
    <p:sldId id="257" r:id="rId6"/>
    <p:sldId id="286" r:id="rId7"/>
    <p:sldId id="299" r:id="rId8"/>
    <p:sldId id="303" r:id="rId9"/>
    <p:sldId id="291" r:id="rId10"/>
    <p:sldId id="289" r:id="rId11"/>
    <p:sldId id="310" r:id="rId12"/>
    <p:sldId id="300" r:id="rId13"/>
    <p:sldId id="290" r:id="rId14"/>
    <p:sldId id="301" r:id="rId15"/>
    <p:sldId id="313" r:id="rId16"/>
    <p:sldId id="315" r:id="rId17"/>
    <p:sldId id="314" r:id="rId18"/>
    <p:sldId id="305" r:id="rId19"/>
    <p:sldId id="304" r:id="rId20"/>
    <p:sldId id="306" r:id="rId21"/>
    <p:sldId id="307" r:id="rId22"/>
    <p:sldId id="296"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646" autoAdjust="0"/>
  </p:normalViewPr>
  <p:slideViewPr>
    <p:cSldViewPr snapToGrid="0">
      <p:cViewPr varScale="1">
        <p:scale>
          <a:sx n="74" d="100"/>
          <a:sy n="74" d="100"/>
        </p:scale>
        <p:origin x="82" y="86"/>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5/11/2025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5/11/2025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938948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4</a:t>
            </a:fld>
            <a:endParaRPr lang="en-US" dirty="0"/>
          </a:p>
        </p:txBody>
      </p:sp>
    </p:spTree>
    <p:extLst>
      <p:ext uri="{BB962C8B-B14F-4D97-AF65-F5344CB8AC3E}">
        <p14:creationId xmlns:p14="http://schemas.microsoft.com/office/powerpoint/2010/main" val="836963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5</a:t>
            </a:fld>
            <a:endParaRPr lang="en-US" dirty="0"/>
          </a:p>
        </p:txBody>
      </p:sp>
    </p:spTree>
    <p:extLst>
      <p:ext uri="{BB962C8B-B14F-4D97-AF65-F5344CB8AC3E}">
        <p14:creationId xmlns:p14="http://schemas.microsoft.com/office/powerpoint/2010/main" val="12572988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6</a:t>
            </a:fld>
            <a:endParaRPr lang="en-US" dirty="0"/>
          </a:p>
        </p:txBody>
      </p:sp>
    </p:spTree>
    <p:extLst>
      <p:ext uri="{BB962C8B-B14F-4D97-AF65-F5344CB8AC3E}">
        <p14:creationId xmlns:p14="http://schemas.microsoft.com/office/powerpoint/2010/main" val="964844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7</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37983129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4594046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16</a:t>
            </a:fld>
            <a:endParaRPr lang="en-US" dirty="0"/>
          </a:p>
        </p:txBody>
      </p:sp>
    </p:spTree>
    <p:extLst>
      <p:ext uri="{BB962C8B-B14F-4D97-AF65-F5344CB8AC3E}">
        <p14:creationId xmlns:p14="http://schemas.microsoft.com/office/powerpoint/2010/main" val="3779112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19</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1" r:id="rId3"/>
    <p:sldLayoutId id="2147483659" r:id="rId4"/>
    <p:sldLayoutId id="2147483668" r:id="rId5"/>
    <p:sldLayoutId id="2147483669" r:id="rId6"/>
    <p:sldLayoutId id="2147483661" r:id="rId7"/>
    <p:sldLayoutId id="2147483666" r:id="rId8"/>
  </p:sldLayoutIdLs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67493" y="232913"/>
            <a:ext cx="7096933" cy="3830130"/>
          </a:xfrm>
        </p:spPr>
        <p:txBody>
          <a:bodyPr/>
          <a:lstStyle/>
          <a:p>
            <a:r>
              <a:rPr lang="en-US" dirty="0"/>
              <a:t>SDS</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dirty="0"/>
              <a:t>Content </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1206409" y="2007635"/>
            <a:ext cx="9779182" cy="3366815"/>
          </a:xfrm>
        </p:spPr>
        <p:txBody>
          <a:bodyPr vert="horz" lIns="91440" tIns="45720" rIns="91440" bIns="45720" rtlCol="0" anchor="t">
            <a:normAutofit/>
          </a:bodyPr>
          <a:lstStyle/>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Architecture Diagram</a:t>
            </a:r>
            <a:endParaRPr lang="en-US" sz="2500" b="1" dirty="0"/>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Class Diagram &amp;  Class Descriptions</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Sequence diagrams</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 State Diagram</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SOLID Principles &amp;  Design Patterns</a:t>
            </a:r>
          </a:p>
          <a:p>
            <a:pPr marL="342900" indent="-342900">
              <a:buFont typeface="Arial" panose="020B0604020202020204" pitchFamily="34" charset="0"/>
              <a:buChar char="•"/>
            </a:pPr>
            <a:r>
              <a:rPr lang="en-US" sz="2500" b="1" dirty="0">
                <a:latin typeface="Calibri" panose="020F0502020204030204" pitchFamily="34" charset="0"/>
                <a:ea typeface="Calibri" panose="020F0502020204030204" pitchFamily="34" charset="0"/>
                <a:cs typeface="Arial" panose="020B0604020202020204" pitchFamily="34" charset="0"/>
              </a:rPr>
              <a:t>Tools </a:t>
            </a:r>
            <a:endParaRPr lang="en-US" sz="2500" b="1" dirty="0"/>
          </a:p>
        </p:txBody>
      </p:sp>
    </p:spTree>
    <p:extLst>
      <p:ext uri="{BB962C8B-B14F-4D97-AF65-F5344CB8AC3E}">
        <p14:creationId xmlns:p14="http://schemas.microsoft.com/office/powerpoint/2010/main" val="1325608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68827" y="1597742"/>
            <a:ext cx="5486399" cy="639095"/>
          </a:xfrm>
        </p:spPr>
        <p:txBody>
          <a:bodyPr anchor="b">
            <a:normAutofit fontScale="90000"/>
          </a:bodyPr>
          <a:lstStyle/>
          <a:p>
            <a:pPr marL="571500" indent="-571500">
              <a:buFont typeface="Arial" panose="020B0604020202020204" pitchFamily="34" charset="0"/>
              <a:buChar char="•"/>
            </a:pPr>
            <a:r>
              <a:rPr lang="en-US" dirty="0">
                <a:effectLst/>
              </a:rPr>
              <a:t>Architecture</a:t>
            </a:r>
            <a:r>
              <a:rPr lang="en-US" dirty="0"/>
              <a:t> </a:t>
            </a:r>
            <a:r>
              <a:rPr lang="en-US" dirty="0">
                <a:effectLst/>
              </a:rPr>
              <a:t>Diagram</a:t>
            </a:r>
            <a:br>
              <a:rPr lang="en-US" dirty="0">
                <a:effectLst/>
              </a:rPr>
            </a:br>
            <a:r>
              <a:rPr lang="en-US" dirty="0">
                <a:effectLst/>
              </a:rPr>
              <a:t> </a:t>
            </a:r>
            <a:endParaRPr lang="en-US" dirty="0"/>
          </a:p>
        </p:txBody>
      </p:sp>
      <p:pic>
        <p:nvPicPr>
          <p:cNvPr id="7" name="Picture 6" descr="A screenshot of a computer&#10;&#10;Description automatically generated">
            <a:extLst>
              <a:ext uri="{FF2B5EF4-FFF2-40B4-BE49-F238E27FC236}">
                <a16:creationId xmlns:a16="http://schemas.microsoft.com/office/drawing/2014/main" id="{EC8B1DE7-26CA-25E3-1BED-FB84AB9119F2}"/>
              </a:ext>
            </a:extLst>
          </p:cNvPr>
          <p:cNvPicPr>
            <a:picLocks noChangeAspect="1"/>
          </p:cNvPicPr>
          <p:nvPr/>
        </p:nvPicPr>
        <p:blipFill>
          <a:blip r:embed="rId3"/>
          <a:stretch>
            <a:fillRect/>
          </a:stretch>
        </p:blipFill>
        <p:spPr>
          <a:xfrm>
            <a:off x="5661086" y="464575"/>
            <a:ext cx="4728148" cy="5928850"/>
          </a:xfrm>
          <a:prstGeom prst="rect">
            <a:avLst/>
          </a:prstGeom>
          <a:noFill/>
        </p:spPr>
      </p:pic>
      <p:sp>
        <p:nvSpPr>
          <p:cNvPr id="9" name="TextBox 8">
            <a:extLst>
              <a:ext uri="{FF2B5EF4-FFF2-40B4-BE49-F238E27FC236}">
                <a16:creationId xmlns:a16="http://schemas.microsoft.com/office/drawing/2014/main" id="{8D5A140E-0C43-FFD5-5691-1244E5536E99}"/>
              </a:ext>
            </a:extLst>
          </p:cNvPr>
          <p:cNvSpPr txBox="1"/>
          <p:nvPr/>
        </p:nvSpPr>
        <p:spPr>
          <a:xfrm>
            <a:off x="245807" y="1917290"/>
            <a:ext cx="4896463" cy="2585323"/>
          </a:xfrm>
          <a:prstGeom prst="rect">
            <a:avLst/>
          </a:prstGeom>
          <a:noFill/>
        </p:spPr>
        <p:txBody>
          <a:bodyPr wrap="square" rtlCol="0">
            <a:spAutoFit/>
          </a:bodyPr>
          <a:lstStyle/>
          <a:p>
            <a:r>
              <a:rPr lang="en-US" dirty="0"/>
              <a:t>Uses a </a:t>
            </a:r>
            <a:r>
              <a:rPr lang="en-US" b="1" dirty="0"/>
              <a:t>Layered (N-tier) architecture</a:t>
            </a:r>
            <a:r>
              <a:rPr lang="en-US" dirty="0"/>
              <a:t> to separate presentation, business logic, and data access layers.</a:t>
            </a:r>
            <a:br>
              <a:rPr lang="en-US" dirty="0"/>
            </a:br>
            <a:r>
              <a:rPr lang="en-US" dirty="0"/>
              <a:t>This structure improves </a:t>
            </a:r>
            <a:r>
              <a:rPr lang="en-US" b="1" dirty="0"/>
              <a:t>scalability</a:t>
            </a:r>
            <a:r>
              <a:rPr lang="en-US" dirty="0"/>
              <a:t>, </a:t>
            </a:r>
            <a:r>
              <a:rPr lang="en-US" b="1" dirty="0"/>
              <a:t>maintainability</a:t>
            </a:r>
            <a:r>
              <a:rPr lang="en-US" dirty="0"/>
              <a:t>, and </a:t>
            </a:r>
            <a:r>
              <a:rPr lang="en-US" b="1" dirty="0"/>
              <a:t>security</a:t>
            </a:r>
            <a:r>
              <a:rPr lang="en-US" dirty="0"/>
              <a:t>.</a:t>
            </a:r>
            <a:br>
              <a:rPr lang="en-US" dirty="0"/>
            </a:br>
            <a:r>
              <a:rPr lang="en-US" dirty="0"/>
              <a:t>It supports integration with external services like bank APIs and e-wallets.</a:t>
            </a:r>
            <a:br>
              <a:rPr lang="en-US" dirty="0"/>
            </a:br>
            <a:r>
              <a:rPr lang="en-US" dirty="0"/>
              <a:t>Ideal for mobile/web apps backed by a cloud database.</a:t>
            </a:r>
          </a:p>
        </p:txBody>
      </p:sp>
    </p:spTree>
    <p:extLst>
      <p:ext uri="{BB962C8B-B14F-4D97-AF65-F5344CB8AC3E}">
        <p14:creationId xmlns:p14="http://schemas.microsoft.com/office/powerpoint/2010/main" val="3662677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any&#10;&#10;AI-generated content may be incorrect.">
            <a:extLst>
              <a:ext uri="{FF2B5EF4-FFF2-40B4-BE49-F238E27FC236}">
                <a16:creationId xmlns:a16="http://schemas.microsoft.com/office/drawing/2014/main" id="{76C382E3-FAAD-DA31-1FA3-A585B4F0A3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62161" y="521652"/>
            <a:ext cx="6210300" cy="5814695"/>
          </a:xfrm>
          <a:prstGeom prst="rect">
            <a:avLst/>
          </a:prstGeom>
        </p:spPr>
      </p:pic>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0" y="550607"/>
            <a:ext cx="5919019" cy="941869"/>
          </a:xfrm>
        </p:spPr>
        <p:txBody>
          <a:bodyPr anchor="b">
            <a:normAutofit/>
          </a:bodyPr>
          <a:lstStyle/>
          <a:p>
            <a:pPr marL="571500" indent="-571500">
              <a:buFont typeface="Arial" panose="020B0604020202020204" pitchFamily="34" charset="0"/>
              <a:buChar char="•"/>
            </a:pPr>
            <a:r>
              <a:rPr lang="en-US" dirty="0">
                <a:effectLst/>
              </a:rPr>
              <a:t>Class Diagram </a:t>
            </a:r>
            <a:endParaRPr lang="en-US" dirty="0"/>
          </a:p>
        </p:txBody>
      </p:sp>
      <p:sp>
        <p:nvSpPr>
          <p:cNvPr id="9" name="TextBox 8">
            <a:extLst>
              <a:ext uri="{FF2B5EF4-FFF2-40B4-BE49-F238E27FC236}">
                <a16:creationId xmlns:a16="http://schemas.microsoft.com/office/drawing/2014/main" id="{030E7F23-8F2E-D42A-04B7-BE10108D1D85}"/>
              </a:ext>
            </a:extLst>
          </p:cNvPr>
          <p:cNvSpPr txBox="1"/>
          <p:nvPr/>
        </p:nvSpPr>
        <p:spPr>
          <a:xfrm>
            <a:off x="275304" y="2278992"/>
            <a:ext cx="4227870" cy="2862322"/>
          </a:xfrm>
          <a:prstGeom prst="rect">
            <a:avLst/>
          </a:prstGeom>
          <a:noFill/>
        </p:spPr>
        <p:txBody>
          <a:bodyPr wrap="square">
            <a:spAutoFit/>
          </a:bodyPr>
          <a:lstStyle/>
          <a:p>
            <a:r>
              <a:rPr lang="en-US" dirty="0"/>
              <a:t>Defines core system classes such as User, </a:t>
            </a:r>
            <a:r>
              <a:rPr lang="en-US" dirty="0" err="1"/>
              <a:t>AuthManager</a:t>
            </a:r>
            <a:r>
              <a:rPr lang="en-US" dirty="0"/>
              <a:t>, and </a:t>
            </a:r>
            <a:r>
              <a:rPr lang="en-US" dirty="0" err="1"/>
              <a:t>BudgetManager.Each</a:t>
            </a:r>
            <a:r>
              <a:rPr lang="en-US" dirty="0"/>
              <a:t> class has clear responsibilities and many follow interface-based design (</a:t>
            </a:r>
            <a:r>
              <a:rPr lang="en-US" dirty="0" err="1"/>
              <a:t>IManager</a:t>
            </a:r>
            <a:r>
              <a:rPr lang="en-US" dirty="0"/>
              <a:t>).Supports reusability and extension with inheritance (e.g., </a:t>
            </a:r>
            <a:r>
              <a:rPr lang="en-US" dirty="0" err="1"/>
              <a:t>PayMethod</a:t>
            </a:r>
            <a:r>
              <a:rPr lang="en-US" dirty="0"/>
              <a:t>, </a:t>
            </a:r>
            <a:r>
              <a:rPr lang="en-US" dirty="0" err="1"/>
              <a:t>CreditCard</a:t>
            </a:r>
            <a:r>
              <a:rPr lang="en-US" dirty="0"/>
              <a:t>, </a:t>
            </a:r>
            <a:r>
              <a:rPr lang="en-US" dirty="0" err="1"/>
              <a:t>EWallet</a:t>
            </a:r>
            <a:r>
              <a:rPr lang="en-US" dirty="0"/>
              <a:t>).Enables organized, object-oriented structure for development.</a:t>
            </a:r>
          </a:p>
        </p:txBody>
      </p:sp>
    </p:spTree>
    <p:extLst>
      <p:ext uri="{BB962C8B-B14F-4D97-AF65-F5344CB8AC3E}">
        <p14:creationId xmlns:p14="http://schemas.microsoft.com/office/powerpoint/2010/main" val="3598521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4CFB73D-B7C9-A177-04F3-E48E841A875E}"/>
              </a:ext>
            </a:extLst>
          </p:cNvPr>
          <p:cNvSpPr>
            <a:spLocks noGrp="1"/>
          </p:cNvSpPr>
          <p:nvPr>
            <p:ph type="title"/>
          </p:nvPr>
        </p:nvSpPr>
        <p:spPr>
          <a:xfrm>
            <a:off x="1167492" y="69008"/>
            <a:ext cx="9779183" cy="1706563"/>
          </a:xfrm>
        </p:spPr>
        <p:txBody>
          <a:bodyPr/>
          <a:lstStyle/>
          <a:p>
            <a:pPr marL="571500" indent="-571500">
              <a:buFont typeface="Arial" panose="020B0604020202020204" pitchFamily="34" charset="0"/>
              <a:buChar char="•"/>
            </a:pPr>
            <a:r>
              <a:rPr lang="en-US" dirty="0"/>
              <a:t>Class Description </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1"/>
          </p:nvPr>
        </p:nvSpPr>
        <p:spPr>
          <a:xfrm>
            <a:off x="11704934" y="0"/>
            <a:ext cx="487066" cy="234920"/>
          </a:xfrm>
        </p:spPr>
        <p:txBody>
          <a:bodyPr>
            <a:normAutofit fontScale="55000" lnSpcReduction="20000"/>
          </a:bodyPr>
          <a:lstStyle/>
          <a:p>
            <a:endParaRPr lang="en-US" dirty="0"/>
          </a:p>
        </p:txBody>
      </p:sp>
      <p:sp>
        <p:nvSpPr>
          <p:cNvPr id="5" name="Rectangle 2">
            <a:extLst>
              <a:ext uri="{FF2B5EF4-FFF2-40B4-BE49-F238E27FC236}">
                <a16:creationId xmlns:a16="http://schemas.microsoft.com/office/drawing/2014/main" id="{1E9388AC-4AC9-A804-4AE1-FDC220EAE585}"/>
              </a:ext>
            </a:extLst>
          </p:cNvPr>
          <p:cNvSpPr>
            <a:spLocks noGrp="1" noChangeArrowheads="1"/>
          </p:cNvSpPr>
          <p:nvPr>
            <p:ph idx="12"/>
          </p:nvPr>
        </p:nvSpPr>
        <p:spPr bwMode="auto">
          <a:xfrm>
            <a:off x="994787" y="2397487"/>
            <a:ext cx="1965806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altLang="en-US" sz="1800" b="1" i="0" u="none" strike="noStrike" cap="none" normalizeH="0" baseline="0" dirty="0" err="1">
                <a:ln>
                  <a:noFill/>
                </a:ln>
                <a:effectLst/>
                <a:latin typeface="Arial" panose="020B0604020202020204" pitchFamily="34" charset="0"/>
              </a:rPr>
              <a:t>AuthManager</a:t>
            </a:r>
            <a:r>
              <a:rPr kumimoji="0" lang="en-US" altLang="en-US" sz="1800" b="0" i="0" u="none" strike="noStrike" cap="none" normalizeH="0" baseline="0" dirty="0">
                <a:ln>
                  <a:noFill/>
                </a:ln>
                <a:effectLst/>
                <a:latin typeface="Arial" panose="020B0604020202020204" pitchFamily="34" charset="0"/>
              </a:rPr>
              <a:t> – Handles user authentication and recovery emails.</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effectLst/>
                <a:latin typeface="Arial" panose="020B0604020202020204" pitchFamily="34" charset="0"/>
              </a:rPr>
              <a:t>User</a:t>
            </a:r>
            <a:r>
              <a:rPr kumimoji="0" lang="en-US" altLang="en-US" sz="1800" b="0" i="0" u="none" strike="noStrike" cap="none" normalizeH="0" baseline="0" dirty="0">
                <a:ln>
                  <a:noFill/>
                </a:ln>
                <a:effectLst/>
                <a:latin typeface="Arial" panose="020B0604020202020204" pitchFamily="34" charset="0"/>
              </a:rPr>
              <a:t> – Stores user-related runtime data.</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effectLst/>
                <a:latin typeface="Arial" panose="020B0604020202020204" pitchFamily="34" charset="0"/>
              </a:rPr>
              <a:t>Database</a:t>
            </a:r>
            <a:r>
              <a:rPr kumimoji="0" lang="en-US" altLang="en-US" sz="1800" b="0" i="0" u="none" strike="noStrike" cap="none" normalizeH="0" baseline="0" dirty="0">
                <a:ln>
                  <a:noFill/>
                </a:ln>
                <a:effectLst/>
                <a:latin typeface="Arial" panose="020B0604020202020204" pitchFamily="34" charset="0"/>
              </a:rPr>
              <a:t> – Central interface for data storage, updates, and retrieval.</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err="1">
                <a:ln>
                  <a:noFill/>
                </a:ln>
                <a:effectLst/>
                <a:latin typeface="Arial" panose="020B0604020202020204" pitchFamily="34" charset="0"/>
              </a:rPr>
              <a:t>IncomeManager</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ExpenseManager</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BudgetManager</a:t>
            </a:r>
            <a:r>
              <a:rPr lang="en-US" altLang="en-US" sz="1800" b="1" dirty="0">
                <a:latin typeface="Arial" panose="020B0604020202020204" pitchFamily="34" charset="0"/>
              </a:rPr>
              <a:t> </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PayMethodManager</a:t>
            </a:r>
            <a:r>
              <a:rPr kumimoji="0" lang="en-US" altLang="en-US" sz="1800" b="0" i="0" u="none" strike="noStrike" cap="none" normalizeH="0" baseline="0" dirty="0">
                <a:ln>
                  <a:noFill/>
                </a:ln>
                <a:effectLst/>
                <a:latin typeface="Arial" panose="020B0604020202020204" pitchFamily="34" charset="0"/>
              </a:rPr>
              <a:t> – Manage user’s</a:t>
            </a:r>
          </a:p>
          <a:p>
            <a:pPr marL="0" indent="0" eaLnBrk="0" fontAlgn="base" hangingPunct="0">
              <a:lnSpc>
                <a:spcPct val="100000"/>
              </a:lnSpc>
              <a:spcBef>
                <a:spcPct val="0"/>
              </a:spcBef>
              <a:spcAft>
                <a:spcPct val="0"/>
              </a:spcAft>
              <a:buNone/>
            </a:pPr>
            <a:r>
              <a:rPr lang="en-US" altLang="en-US" sz="1800" dirty="0">
                <a:latin typeface="Arial" panose="020B0604020202020204" pitchFamily="34" charset="0"/>
              </a:rPr>
              <a:t>       </a:t>
            </a:r>
            <a:r>
              <a:rPr kumimoji="0" lang="en-US" altLang="en-US" sz="1800" b="0" i="0" u="none" strike="noStrike" cap="none" normalizeH="0" baseline="0" dirty="0">
                <a:ln>
                  <a:noFill/>
                </a:ln>
                <a:effectLst/>
                <a:latin typeface="Arial" panose="020B0604020202020204" pitchFamily="34" charset="0"/>
              </a:rPr>
              <a:t> income, expenses, budgets, and payment methods (all implement a shared interface).</a:t>
            </a:r>
          </a:p>
          <a:p>
            <a:pPr marL="0" indent="0" eaLnBrk="0" fontAlgn="base" hangingPunct="0">
              <a:lnSpc>
                <a:spcPct val="100000"/>
              </a:lnSpc>
              <a:spcBef>
                <a:spcPct val="0"/>
              </a:spcBef>
              <a:spcAft>
                <a:spcPct val="0"/>
              </a:spcAft>
              <a:buNone/>
            </a:pPr>
            <a:endParaRPr kumimoji="0" lang="en-US" altLang="en-US" sz="18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2883239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4CFB73D-B7C9-A177-04F3-E48E841A875E}"/>
              </a:ext>
            </a:extLst>
          </p:cNvPr>
          <p:cNvSpPr>
            <a:spLocks noGrp="1"/>
          </p:cNvSpPr>
          <p:nvPr>
            <p:ph type="title"/>
          </p:nvPr>
        </p:nvSpPr>
        <p:spPr>
          <a:xfrm>
            <a:off x="1167492" y="69008"/>
            <a:ext cx="9779183" cy="1706563"/>
          </a:xfrm>
        </p:spPr>
        <p:txBody>
          <a:bodyPr/>
          <a:lstStyle/>
          <a:p>
            <a:pPr marL="571500" indent="-571500">
              <a:buFont typeface="Arial" panose="020B0604020202020204" pitchFamily="34" charset="0"/>
              <a:buChar char="•"/>
            </a:pPr>
            <a:r>
              <a:rPr lang="en-US" dirty="0"/>
              <a:t>Class Description – continued </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1"/>
          </p:nvPr>
        </p:nvSpPr>
        <p:spPr>
          <a:xfrm>
            <a:off x="11704934" y="0"/>
            <a:ext cx="487066" cy="234920"/>
          </a:xfrm>
        </p:spPr>
        <p:txBody>
          <a:bodyPr>
            <a:normAutofit fontScale="55000" lnSpcReduction="20000"/>
          </a:bodyPr>
          <a:lstStyle/>
          <a:p>
            <a:endParaRPr lang="en-US" dirty="0"/>
          </a:p>
        </p:txBody>
      </p:sp>
      <p:sp>
        <p:nvSpPr>
          <p:cNvPr id="5" name="Rectangle 2">
            <a:extLst>
              <a:ext uri="{FF2B5EF4-FFF2-40B4-BE49-F238E27FC236}">
                <a16:creationId xmlns:a16="http://schemas.microsoft.com/office/drawing/2014/main" id="{1E9388AC-4AC9-A804-4AE1-FDC220EAE585}"/>
              </a:ext>
            </a:extLst>
          </p:cNvPr>
          <p:cNvSpPr>
            <a:spLocks noGrp="1" noChangeArrowheads="1"/>
          </p:cNvSpPr>
          <p:nvPr>
            <p:ph idx="12"/>
          </p:nvPr>
        </p:nvSpPr>
        <p:spPr bwMode="auto">
          <a:xfrm>
            <a:off x="994787" y="2120488"/>
            <a:ext cx="19658066"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buAutoNum type="arabicPeriod" startAt="5"/>
            </a:pPr>
            <a:r>
              <a:rPr kumimoji="0" lang="en-US" altLang="en-US" sz="1800" b="0" i="0" u="none" strike="noStrike" cap="none" normalizeH="0" baseline="0" dirty="0">
                <a:ln>
                  <a:noFill/>
                </a:ln>
                <a:effectLst/>
                <a:latin typeface="Arial" panose="020B0604020202020204" pitchFamily="34" charset="0"/>
              </a:rPr>
              <a:t>Goal – Tracks a user's personal financial target and constraints.</a:t>
            </a:r>
          </a:p>
          <a:p>
            <a:pPr eaLnBrk="0" fontAlgn="base" hangingPunct="0">
              <a:lnSpc>
                <a:spcPct val="100000"/>
              </a:lnSpc>
              <a:spcBef>
                <a:spcPct val="0"/>
              </a:spcBef>
              <a:spcAft>
                <a:spcPct val="0"/>
              </a:spcAft>
              <a:buAutoNum type="arabicPeriod" startAt="5"/>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6"/>
            </a:pPr>
            <a:r>
              <a:rPr kumimoji="0" lang="en-US" altLang="en-US" sz="1800" b="0" i="0" u="none" strike="noStrike" cap="none" normalizeH="0" baseline="0" dirty="0">
                <a:ln>
                  <a:noFill/>
                </a:ln>
                <a:effectLst/>
                <a:latin typeface="Arial" panose="020B0604020202020204" pitchFamily="34" charset="0"/>
              </a:rPr>
              <a:t>Income / Budget – Store detailed income and budget data per user.</a:t>
            </a:r>
          </a:p>
          <a:p>
            <a:pPr eaLnBrk="0" fontAlgn="base" hangingPunct="0">
              <a:lnSpc>
                <a:spcPct val="100000"/>
              </a:lnSpc>
              <a:spcBef>
                <a:spcPct val="0"/>
              </a:spcBef>
              <a:spcAft>
                <a:spcPct val="0"/>
              </a:spcAft>
              <a:buAutoNum type="arabicPeriod" startAt="6"/>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7"/>
            </a:pPr>
            <a:r>
              <a:rPr kumimoji="0" lang="en-US" altLang="en-US" sz="1800" b="0" i="0" u="none" strike="noStrike" cap="none" normalizeH="0" baseline="0" dirty="0" err="1">
                <a:ln>
                  <a:noFill/>
                </a:ln>
                <a:effectLst/>
                <a:latin typeface="Arial" panose="020B0604020202020204" pitchFamily="34" charset="0"/>
              </a:rPr>
              <a:t>PayMethod</a:t>
            </a:r>
            <a:r>
              <a:rPr kumimoji="0" lang="en-US" altLang="en-US" sz="1800" b="0" i="0" u="none" strike="noStrike" cap="none" normalizeH="0" baseline="0" dirty="0">
                <a:ln>
                  <a:noFill/>
                </a:ln>
                <a:effectLst/>
                <a:latin typeface="Arial" panose="020B0604020202020204" pitchFamily="34" charset="0"/>
              </a:rPr>
              <a:t> (Abstract) – Base class for user payment methods.</a:t>
            </a:r>
          </a:p>
          <a:p>
            <a:pPr eaLnBrk="0" fontAlgn="base" hangingPunct="0">
              <a:lnSpc>
                <a:spcPct val="100000"/>
              </a:lnSpc>
              <a:spcBef>
                <a:spcPct val="0"/>
              </a:spcBef>
              <a:spcAft>
                <a:spcPct val="0"/>
              </a:spcAft>
              <a:buAutoNum type="arabicPeriod" startAt="7"/>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8"/>
            </a:pPr>
            <a:r>
              <a:rPr kumimoji="0" lang="en-US" altLang="en-US" sz="1800" b="0" i="0" u="none" strike="noStrike" cap="none" normalizeH="0" baseline="0" dirty="0" err="1">
                <a:ln>
                  <a:noFill/>
                </a:ln>
                <a:effectLst/>
                <a:latin typeface="Arial" panose="020B0604020202020204" pitchFamily="34" charset="0"/>
              </a:rPr>
              <a:t>CreditCard</a:t>
            </a:r>
            <a:r>
              <a:rPr kumimoji="0" lang="en-US" altLang="en-US" sz="1800" b="0" i="0" u="none" strike="noStrike" cap="none" normalizeH="0" baseline="0" dirty="0">
                <a:ln>
                  <a:noFill/>
                </a:ln>
                <a:effectLst/>
                <a:latin typeface="Arial" panose="020B0604020202020204" pitchFamily="34" charset="0"/>
              </a:rPr>
              <a:t> / </a:t>
            </a:r>
            <a:r>
              <a:rPr kumimoji="0" lang="en-US" altLang="en-US" sz="1800" b="0" i="0" u="none" strike="noStrike" cap="none" normalizeH="0" baseline="0" dirty="0" err="1">
                <a:ln>
                  <a:noFill/>
                </a:ln>
                <a:effectLst/>
                <a:latin typeface="Arial" panose="020B0604020202020204" pitchFamily="34" charset="0"/>
              </a:rPr>
              <a:t>EWallet</a:t>
            </a:r>
            <a:r>
              <a:rPr kumimoji="0" lang="en-US" altLang="en-US" sz="1800" b="0" i="0" u="none" strike="noStrike" cap="none" normalizeH="0" baseline="0" dirty="0">
                <a:ln>
                  <a:noFill/>
                </a:ln>
                <a:effectLst/>
                <a:latin typeface="Arial" panose="020B0604020202020204" pitchFamily="34" charset="0"/>
              </a:rPr>
              <a:t> – Inherit from </a:t>
            </a:r>
            <a:r>
              <a:rPr kumimoji="0" lang="en-US" altLang="en-US" sz="1800" b="0" i="0" u="none" strike="noStrike" cap="none" normalizeH="0" baseline="0" dirty="0" err="1">
                <a:ln>
                  <a:noFill/>
                </a:ln>
                <a:effectLst/>
                <a:latin typeface="Arial" panose="020B0604020202020204" pitchFamily="34" charset="0"/>
              </a:rPr>
              <a:t>PayMethod</a:t>
            </a:r>
            <a:r>
              <a:rPr kumimoji="0" lang="en-US" altLang="en-US" sz="1800" b="0" i="0" u="none" strike="noStrike" cap="none" normalizeH="0" baseline="0" dirty="0">
                <a:ln>
                  <a:noFill/>
                </a:ln>
                <a:effectLst/>
                <a:latin typeface="Arial" panose="020B0604020202020204" pitchFamily="34" charset="0"/>
              </a:rPr>
              <a:t>, adding card details or wallet phone number.</a:t>
            </a:r>
          </a:p>
          <a:p>
            <a:pPr eaLnBrk="0" fontAlgn="base" hangingPunct="0">
              <a:lnSpc>
                <a:spcPct val="100000"/>
              </a:lnSpc>
              <a:spcBef>
                <a:spcPct val="0"/>
              </a:spcBef>
              <a:spcAft>
                <a:spcPct val="0"/>
              </a:spcAft>
              <a:buAutoNum type="arabicPeriod" startAt="8"/>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9"/>
            </a:pPr>
            <a:r>
              <a:rPr kumimoji="0" lang="en-US" altLang="en-US" sz="1800" b="0" i="0" u="none" strike="noStrike" cap="none" normalizeH="0" baseline="0" dirty="0">
                <a:ln>
                  <a:noFill/>
                </a:ln>
                <a:effectLst/>
                <a:latin typeface="Arial" panose="020B0604020202020204" pitchFamily="34" charset="0"/>
              </a:rPr>
              <a:t>Transaction – Logs a payment method’s transaction </a:t>
            </a:r>
            <a:r>
              <a:rPr kumimoji="0" lang="en-US" altLang="en-US" sz="1800" b="0" i="0" u="none" strike="noStrike" cap="none" normalizeH="0" baseline="0" dirty="0" err="1">
                <a:ln>
                  <a:noFill/>
                </a:ln>
                <a:effectLst/>
                <a:latin typeface="Arial" panose="020B0604020202020204" pitchFamily="34" charset="0"/>
              </a:rPr>
              <a:t>details.Report</a:t>
            </a:r>
            <a:r>
              <a:rPr kumimoji="0" lang="en-US" altLang="en-US" sz="1800" b="0" i="0" u="none" strike="noStrike" cap="none" normalizeH="0" baseline="0" dirty="0">
                <a:ln>
                  <a:noFill/>
                </a:ln>
                <a:effectLst/>
                <a:latin typeface="Arial" panose="020B0604020202020204" pitchFamily="34" charset="0"/>
              </a:rPr>
              <a:t> – Generates performance</a:t>
            </a:r>
          </a:p>
          <a:p>
            <a:pPr marL="0" indent="0" eaLnBrk="0" fontAlgn="base" hangingPunct="0">
              <a:lnSpc>
                <a:spcPct val="100000"/>
              </a:lnSpc>
              <a:spcBef>
                <a:spcPct val="0"/>
              </a:spcBef>
              <a:spcAft>
                <a:spcPct val="0"/>
              </a:spcAft>
              <a:buNone/>
            </a:pPr>
            <a:r>
              <a:rPr lang="en-US" altLang="en-US" sz="1800" dirty="0">
                <a:latin typeface="Arial" panose="020B0604020202020204" pitchFamily="34" charset="0"/>
              </a:rPr>
              <a:t>        </a:t>
            </a:r>
            <a:r>
              <a:rPr kumimoji="0" lang="en-US" altLang="en-US" sz="1800" b="0" i="0" u="none" strike="noStrike" cap="none" normalizeH="0" baseline="0" dirty="0">
                <a:ln>
                  <a:noFill/>
                </a:ln>
                <a:effectLst/>
                <a:latin typeface="Arial" panose="020B0604020202020204" pitchFamily="34" charset="0"/>
              </a:rPr>
              <a:t> insights for the user's budgeting behavior.</a:t>
            </a:r>
          </a:p>
          <a:p>
            <a:pPr marL="0" indent="0" eaLnBrk="0" fontAlgn="base" hangingPunct="0">
              <a:lnSpc>
                <a:spcPct val="100000"/>
              </a:lnSpc>
              <a:spcBef>
                <a:spcPct val="0"/>
              </a:spcBef>
              <a:spcAft>
                <a:spcPct val="0"/>
              </a:spcAft>
              <a:buNone/>
            </a:pPr>
            <a:endParaRPr kumimoji="0" lang="en-US" altLang="en-US" sz="18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26521028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1167492" y="45085"/>
            <a:ext cx="9779183" cy="1600835"/>
          </a:xfrm>
        </p:spPr>
        <p:txBody>
          <a:bodyPr/>
          <a:lstStyle/>
          <a:p>
            <a:r>
              <a:rPr lang="en-US" dirty="0"/>
              <a:t>Sequence Diagrams</a:t>
            </a:r>
          </a:p>
        </p:txBody>
      </p:sp>
      <p:sp>
        <p:nvSpPr>
          <p:cNvPr id="2" name="Content Placeholder 1">
            <a:extLst>
              <a:ext uri="{FF2B5EF4-FFF2-40B4-BE49-F238E27FC236}">
                <a16:creationId xmlns:a16="http://schemas.microsoft.com/office/drawing/2014/main" id="{1B4F9D6E-63B9-28F7-4269-9D99545FFBA9}"/>
              </a:ext>
            </a:extLst>
          </p:cNvPr>
          <p:cNvSpPr>
            <a:spLocks noGrp="1" noChangeArrowheads="1"/>
          </p:cNvSpPr>
          <p:nvPr>
            <p:ph idx="14"/>
          </p:nvPr>
        </p:nvSpPr>
        <p:spPr bwMode="auto">
          <a:xfrm>
            <a:off x="980000" y="2992574"/>
            <a:ext cx="835196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800" dirty="0">
                <a:solidFill>
                  <a:schemeClr val="bg1">
                    <a:lumMod val="95000"/>
                  </a:schemeClr>
                </a:solidFill>
                <a:latin typeface="Arial" panose="020B0604020202020204" pitchFamily="34" charset="0"/>
              </a:rPr>
              <a:t>Ill</a:t>
            </a: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ustrate interactions between system components for specific user stories.</a:t>
            </a:r>
            <a:b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b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Covers flows like </a:t>
            </a:r>
            <a:r>
              <a:rPr kumimoji="0" lang="en-US" altLang="en-US" sz="1800" b="1" i="0" u="none" strike="noStrike" cap="none" normalizeH="0" baseline="0" dirty="0">
                <a:ln>
                  <a:noFill/>
                </a:ln>
                <a:solidFill>
                  <a:schemeClr val="bg1">
                    <a:lumMod val="95000"/>
                  </a:schemeClr>
                </a:solidFill>
                <a:effectLst/>
                <a:latin typeface="Arial" panose="020B0604020202020204" pitchFamily="34" charset="0"/>
              </a:rPr>
              <a:t>Sign Up</a:t>
            </a: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 </a:t>
            </a:r>
            <a:r>
              <a:rPr kumimoji="0" lang="en-US" altLang="en-US" sz="1800" b="1" i="0" u="none" strike="noStrike" cap="none" normalizeH="0" baseline="0" dirty="0">
                <a:ln>
                  <a:noFill/>
                </a:ln>
                <a:solidFill>
                  <a:schemeClr val="bg1">
                    <a:lumMod val="95000"/>
                  </a:schemeClr>
                </a:solidFill>
                <a:effectLst/>
                <a:latin typeface="Arial" panose="020B0604020202020204" pitchFamily="34" charset="0"/>
              </a:rPr>
              <a:t>Login</a:t>
            </a: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 </a:t>
            </a:r>
            <a:r>
              <a:rPr kumimoji="0" lang="en-US" altLang="en-US" sz="1800" b="1" i="0" u="none" strike="noStrike" cap="none" normalizeH="0" baseline="0" dirty="0">
                <a:ln>
                  <a:noFill/>
                </a:ln>
                <a:solidFill>
                  <a:schemeClr val="bg1">
                    <a:lumMod val="95000"/>
                  </a:schemeClr>
                </a:solidFill>
                <a:effectLst/>
                <a:latin typeface="Arial" panose="020B0604020202020204" pitchFamily="34" charset="0"/>
              </a:rPr>
              <a:t>Tracking Income</a:t>
            </a: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 and </a:t>
            </a:r>
            <a:r>
              <a:rPr kumimoji="0" lang="en-US" altLang="en-US" sz="1800" b="1" i="0" u="none" strike="noStrike" cap="none" normalizeH="0" baseline="0" dirty="0">
                <a:ln>
                  <a:noFill/>
                </a:ln>
                <a:solidFill>
                  <a:schemeClr val="bg1">
                    <a:lumMod val="95000"/>
                  </a:schemeClr>
                </a:solidFill>
                <a:effectLst/>
                <a:latin typeface="Arial" panose="020B0604020202020204" pitchFamily="34" charset="0"/>
              </a:rPr>
              <a:t>Budgeting</a:t>
            </a: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a:t>
            </a:r>
            <a:b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b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Helps visualize method calls between objects like </a:t>
            </a:r>
            <a:r>
              <a:rPr kumimoji="0" lang="en-US" altLang="en-US" sz="1800" b="1" i="0" u="none" strike="noStrike" cap="none" normalizeH="0" baseline="0" dirty="0" err="1">
                <a:ln>
                  <a:noFill/>
                </a:ln>
                <a:solidFill>
                  <a:schemeClr val="bg1">
                    <a:lumMod val="95000"/>
                  </a:schemeClr>
                </a:solidFill>
                <a:effectLst/>
                <a:latin typeface="Arial Unicode MS"/>
              </a:rPr>
              <a:t>AuthManager</a:t>
            </a:r>
            <a:r>
              <a:rPr kumimoji="0" lang="en-US" altLang="en-US" sz="1800" b="0" i="0" u="none" strike="noStrike" cap="none" normalizeH="0" baseline="0" dirty="0">
                <a:ln>
                  <a:noFill/>
                </a:ln>
                <a:solidFill>
                  <a:schemeClr val="bg1">
                    <a:lumMod val="95000"/>
                  </a:schemeClr>
                </a:solidFill>
                <a:effectLst/>
              </a:rPr>
              <a:t> and </a:t>
            </a:r>
            <a:r>
              <a:rPr kumimoji="0" lang="en-US" altLang="en-US" sz="1800" b="1" i="0" u="none" strike="noStrike" cap="none" normalizeH="0" baseline="0" dirty="0">
                <a:ln>
                  <a:noFill/>
                </a:ln>
                <a:solidFill>
                  <a:schemeClr val="bg1">
                    <a:lumMod val="95000"/>
                  </a:schemeClr>
                </a:solidFill>
                <a:effectLst/>
                <a:latin typeface="Arial Unicode MS"/>
              </a:rPr>
              <a:t>Database</a:t>
            </a:r>
            <a:r>
              <a:rPr kumimoji="0" lang="en-US" altLang="en-US" sz="1800" b="0" i="0" u="none" strike="noStrike" cap="none" normalizeH="0" baseline="0" dirty="0">
                <a:ln>
                  <a:noFill/>
                </a:ln>
                <a:solidFill>
                  <a:schemeClr val="bg1">
                    <a:lumMod val="95000"/>
                  </a:schemeClr>
                </a:solidFill>
                <a:effectLst/>
              </a:rPr>
              <a:t>.</a:t>
            </a:r>
            <a:b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br>
            <a:r>
              <a:rPr kumimoji="0" lang="en-US" altLang="en-US" sz="1800" b="0" i="0" u="none" strike="noStrike" cap="none" normalizeH="0" baseline="0" dirty="0">
                <a:ln>
                  <a:noFill/>
                </a:ln>
                <a:solidFill>
                  <a:schemeClr val="bg1">
                    <a:lumMod val="95000"/>
                  </a:schemeClr>
                </a:solidFill>
                <a:effectLst/>
                <a:latin typeface="Arial" panose="020B0604020202020204" pitchFamily="34" charset="0"/>
              </a:rPr>
              <a:t>Ensures all user functionalities are mapped to system logic clearly.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800" dirty="0">
                <a:solidFill>
                  <a:schemeClr val="bg1">
                    <a:lumMod val="95000"/>
                  </a:schemeClr>
                </a:solidFill>
                <a:latin typeface="Arial" panose="020B0604020202020204" pitchFamily="34" charset="0"/>
              </a:rPr>
              <a:t>We did user stories : 1,2,3,4,6,7</a:t>
            </a:r>
            <a:endParaRPr kumimoji="0" lang="en-US" altLang="en-US" sz="1800" b="0" i="0" u="none" strike="noStrike" cap="none" normalizeH="0" baseline="0" dirty="0">
              <a:ln>
                <a:noFill/>
              </a:ln>
              <a:solidFill>
                <a:schemeClr val="bg1">
                  <a:lumMod val="9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29338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A35A4-DCD3-0017-C9B6-494058E2009D}"/>
              </a:ext>
            </a:extLst>
          </p:cNvPr>
          <p:cNvSpPr>
            <a:spLocks noGrp="1"/>
          </p:cNvSpPr>
          <p:nvPr>
            <p:ph type="title"/>
          </p:nvPr>
        </p:nvSpPr>
        <p:spPr/>
        <p:txBody>
          <a:bodyPr/>
          <a:lstStyle/>
          <a:p>
            <a:r>
              <a:rPr lang="en-US" dirty="0"/>
              <a:t>User Story #3 - Tracking Income</a:t>
            </a:r>
          </a:p>
        </p:txBody>
      </p:sp>
      <p:pic>
        <p:nvPicPr>
          <p:cNvPr id="4" name="Content Placeholder 4">
            <a:extLst>
              <a:ext uri="{FF2B5EF4-FFF2-40B4-BE49-F238E27FC236}">
                <a16:creationId xmlns:a16="http://schemas.microsoft.com/office/drawing/2014/main" id="{07DF7CA4-14D2-D13F-D18D-C23123B1CFC4}"/>
              </a:ext>
            </a:extLst>
          </p:cNvPr>
          <p:cNvPicPr>
            <a:picLocks noGrp="1" noChangeAspect="1"/>
          </p:cNvPicPr>
          <p:nvPr>
            <p:ph idx="1"/>
          </p:nvPr>
        </p:nvPicPr>
        <p:blipFill>
          <a:blip r:embed="rId2"/>
          <a:stretch>
            <a:fillRect/>
          </a:stretch>
        </p:blipFill>
        <p:spPr>
          <a:xfrm>
            <a:off x="1567749" y="2126840"/>
            <a:ext cx="5615371" cy="4538805"/>
          </a:xfrm>
        </p:spPr>
      </p:pic>
    </p:spTree>
    <p:extLst>
      <p:ext uri="{BB962C8B-B14F-4D97-AF65-F5344CB8AC3E}">
        <p14:creationId xmlns:p14="http://schemas.microsoft.com/office/powerpoint/2010/main" val="266967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0" y="550607"/>
            <a:ext cx="5919019" cy="941869"/>
          </a:xfrm>
        </p:spPr>
        <p:txBody>
          <a:bodyPr anchor="b">
            <a:normAutofit/>
          </a:bodyPr>
          <a:lstStyle/>
          <a:p>
            <a:r>
              <a:rPr lang="en-US" b="1" dirty="0"/>
              <a:t>State Diagram</a:t>
            </a:r>
          </a:p>
        </p:txBody>
      </p:sp>
      <p:sp>
        <p:nvSpPr>
          <p:cNvPr id="9" name="TextBox 8">
            <a:extLst>
              <a:ext uri="{FF2B5EF4-FFF2-40B4-BE49-F238E27FC236}">
                <a16:creationId xmlns:a16="http://schemas.microsoft.com/office/drawing/2014/main" id="{030E7F23-8F2E-D42A-04B7-BE10108D1D85}"/>
              </a:ext>
            </a:extLst>
          </p:cNvPr>
          <p:cNvSpPr txBox="1"/>
          <p:nvPr/>
        </p:nvSpPr>
        <p:spPr>
          <a:xfrm>
            <a:off x="275304" y="2278992"/>
            <a:ext cx="4227870" cy="2585323"/>
          </a:xfrm>
          <a:prstGeom prst="rect">
            <a:avLst/>
          </a:prstGeom>
          <a:noFill/>
        </p:spPr>
        <p:txBody>
          <a:bodyPr wrap="square">
            <a:spAutoFit/>
          </a:bodyPr>
          <a:lstStyle/>
          <a:p>
            <a:r>
              <a:rPr lang="en-US" dirty="0"/>
              <a:t>Focuses on the </a:t>
            </a:r>
            <a:r>
              <a:rPr lang="en-US" b="1" dirty="0"/>
              <a:t>User class</a:t>
            </a:r>
            <a:r>
              <a:rPr lang="en-US" dirty="0"/>
              <a:t>, showing states like logged in, editing profile, or managing budgets.</a:t>
            </a:r>
            <a:br>
              <a:rPr lang="en-US" dirty="0"/>
            </a:br>
            <a:r>
              <a:rPr lang="en-US" dirty="0"/>
              <a:t>Captures dynamic behavior and transitions based on user actions.</a:t>
            </a:r>
            <a:br>
              <a:rPr lang="en-US" dirty="0"/>
            </a:br>
            <a:r>
              <a:rPr lang="en-US" dirty="0"/>
              <a:t>Useful for understanding lifecycle and edge cases.</a:t>
            </a:r>
            <a:br>
              <a:rPr lang="en-US" dirty="0"/>
            </a:br>
            <a:r>
              <a:rPr lang="en-US" dirty="0"/>
              <a:t>Enhances system reliability through clear state management.</a:t>
            </a:r>
          </a:p>
        </p:txBody>
      </p:sp>
      <p:pic>
        <p:nvPicPr>
          <p:cNvPr id="4" name="Picture 3" descr="A diagram of a login&#10;&#10;AI-generated content may be incorrect.">
            <a:extLst>
              <a:ext uri="{FF2B5EF4-FFF2-40B4-BE49-F238E27FC236}">
                <a16:creationId xmlns:a16="http://schemas.microsoft.com/office/drawing/2014/main" id="{54B52DAB-09EF-386D-8C3F-6073F978FD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1038" y="1420537"/>
            <a:ext cx="6063615" cy="3693160"/>
          </a:xfrm>
          <a:prstGeom prst="rect">
            <a:avLst/>
          </a:prstGeom>
        </p:spPr>
      </p:pic>
    </p:spTree>
    <p:extLst>
      <p:ext uri="{BB962C8B-B14F-4D97-AF65-F5344CB8AC3E}">
        <p14:creationId xmlns:p14="http://schemas.microsoft.com/office/powerpoint/2010/main" val="776019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SOLID Principles</a:t>
            </a:r>
          </a:p>
        </p:txBody>
      </p:sp>
      <p:sp>
        <p:nvSpPr>
          <p:cNvPr id="8" name="Rectangle 2">
            <a:extLst>
              <a:ext uri="{FF2B5EF4-FFF2-40B4-BE49-F238E27FC236}">
                <a16:creationId xmlns:a16="http://schemas.microsoft.com/office/drawing/2014/main" id="{C18C8363-1151-CA2E-E25A-AAE513C9627F}"/>
              </a:ext>
            </a:extLst>
          </p:cNvPr>
          <p:cNvSpPr>
            <a:spLocks noGrp="1" noChangeArrowheads="1"/>
          </p:cNvSpPr>
          <p:nvPr>
            <p:ph idx="1"/>
          </p:nvPr>
        </p:nvSpPr>
        <p:spPr bwMode="auto">
          <a:xfrm>
            <a:off x="1166813" y="2489815"/>
            <a:ext cx="935370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Arial" panose="020B0604020202020204" pitchFamily="34" charset="0"/>
              </a:rPr>
              <a:t>Applies all five SOLID principles for clean and maintainable code.</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Example: </a:t>
            </a:r>
            <a:r>
              <a:rPr kumimoji="0" lang="en-US" altLang="en-US" sz="2500" b="1" i="0" u="none" strike="noStrike" cap="none" normalizeH="0" baseline="0" dirty="0" err="1">
                <a:ln>
                  <a:noFill/>
                </a:ln>
                <a:solidFill>
                  <a:schemeClr val="tx1"/>
                </a:solidFill>
                <a:effectLst/>
                <a:latin typeface="Arial Unicode MS"/>
              </a:rPr>
              <a:t>AuthManager</a:t>
            </a:r>
            <a:r>
              <a:rPr kumimoji="0" lang="en-US" altLang="en-US" sz="2500" b="0" i="0" u="none" strike="noStrike" cap="none" normalizeH="0" baseline="0" dirty="0">
                <a:ln>
                  <a:noFill/>
                </a:ln>
                <a:solidFill>
                  <a:schemeClr val="tx1"/>
                </a:solidFill>
                <a:effectLst/>
              </a:rPr>
              <a:t> follows </a:t>
            </a:r>
            <a:r>
              <a:rPr kumimoji="0" lang="en-US" altLang="en-US" sz="2500" b="1" i="0" u="none" strike="noStrike" cap="none" normalizeH="0" baseline="0" dirty="0">
                <a:ln>
                  <a:noFill/>
                </a:ln>
                <a:solidFill>
                  <a:schemeClr val="tx1"/>
                </a:solidFill>
                <a:effectLst/>
              </a:rPr>
              <a:t>Single Responsibility</a:t>
            </a:r>
            <a:r>
              <a:rPr kumimoji="0" lang="en-US" altLang="en-US" sz="2500" b="0" i="0" u="none" strike="noStrike" cap="none" normalizeH="0" baseline="0" dirty="0">
                <a:ln>
                  <a:noFill/>
                </a:ln>
                <a:solidFill>
                  <a:schemeClr val="tx1"/>
                </a:solidFill>
                <a:effectLst/>
              </a:rPr>
              <a:t>, and </a:t>
            </a:r>
            <a:r>
              <a:rPr kumimoji="0" lang="en-US" altLang="en-US" sz="2500" b="1" i="0" u="none" strike="noStrike" cap="none" normalizeH="0" baseline="0" dirty="0" err="1">
                <a:ln>
                  <a:noFill/>
                </a:ln>
                <a:solidFill>
                  <a:schemeClr val="tx1"/>
                </a:solidFill>
                <a:effectLst/>
                <a:latin typeface="Arial Unicode MS"/>
              </a:rPr>
              <a:t>IManager</a:t>
            </a:r>
            <a:r>
              <a:rPr kumimoji="0" lang="en-US" altLang="en-US" sz="2500" b="0" i="0" u="none" strike="noStrike" cap="none" normalizeH="0" baseline="0" dirty="0">
                <a:ln>
                  <a:noFill/>
                </a:ln>
                <a:solidFill>
                  <a:schemeClr val="tx1"/>
                </a:solidFill>
                <a:effectLst/>
              </a:rPr>
              <a:t> supports </a:t>
            </a:r>
            <a:r>
              <a:rPr kumimoji="0" lang="en-US" altLang="en-US" sz="2500" b="1" i="0" u="none" strike="noStrike" cap="none" normalizeH="0" baseline="0" dirty="0">
                <a:ln>
                  <a:noFill/>
                </a:ln>
                <a:solidFill>
                  <a:schemeClr val="tx1"/>
                </a:solidFill>
                <a:effectLst/>
              </a:rPr>
              <a:t>Interface Segregation</a:t>
            </a:r>
            <a:r>
              <a:rPr kumimoji="0" lang="en-US" altLang="en-US" sz="2500" b="0" i="0" u="none" strike="noStrike" cap="none" normalizeH="0" baseline="0" dirty="0">
                <a:ln>
                  <a:noFill/>
                </a:ln>
                <a:solidFill>
                  <a:schemeClr val="tx1"/>
                </a:solidFill>
                <a:effectLst/>
              </a:rPr>
              <a:t>.</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Open/Closed principle </a:t>
            </a:r>
            <a:r>
              <a:rPr kumimoji="0" lang="en-US" altLang="en-US" sz="2500" b="0" i="0" u="none" strike="noStrike" cap="none" normalizeH="0" baseline="0" dirty="0">
                <a:ln>
                  <a:noFill/>
                </a:ln>
                <a:solidFill>
                  <a:schemeClr val="tx1"/>
                </a:solidFill>
                <a:effectLst/>
                <a:latin typeface="Arial" panose="020B0604020202020204" pitchFamily="34" charset="0"/>
              </a:rPr>
              <a:t>is applied by extending without modifying existing classes.</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Encourages modular, testable, and scalable design. </a:t>
            </a:r>
          </a:p>
        </p:txBody>
      </p:sp>
    </p:spTree>
    <p:extLst>
      <p:ext uri="{BB962C8B-B14F-4D97-AF65-F5344CB8AC3E}">
        <p14:creationId xmlns:p14="http://schemas.microsoft.com/office/powerpoint/2010/main" val="12659396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Design Patterns</a:t>
            </a:r>
          </a:p>
        </p:txBody>
      </p:sp>
      <p:sp>
        <p:nvSpPr>
          <p:cNvPr id="3" name="Content Placeholder 2">
            <a:extLst>
              <a:ext uri="{FF2B5EF4-FFF2-40B4-BE49-F238E27FC236}">
                <a16:creationId xmlns:a16="http://schemas.microsoft.com/office/drawing/2014/main" id="{C932D3B2-9041-250A-B758-072CFA39DFB6}"/>
              </a:ext>
            </a:extLst>
          </p:cNvPr>
          <p:cNvSpPr>
            <a:spLocks noGrp="1" noChangeArrowheads="1"/>
          </p:cNvSpPr>
          <p:nvPr>
            <p:ph idx="1"/>
          </p:nvPr>
        </p:nvSpPr>
        <p:spPr bwMode="auto">
          <a:xfrm>
            <a:off x="907871" y="2135854"/>
            <a:ext cx="10376258"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Arial" panose="020B0604020202020204" pitchFamily="34" charset="0"/>
              </a:rPr>
              <a:t>Implements </a:t>
            </a:r>
            <a:r>
              <a:rPr kumimoji="0" lang="en-US" altLang="en-US" sz="2500" b="1" i="0" u="none" strike="noStrike" cap="none" normalizeH="0" baseline="0" dirty="0">
                <a:ln>
                  <a:noFill/>
                </a:ln>
                <a:solidFill>
                  <a:schemeClr val="tx1"/>
                </a:solidFill>
                <a:effectLst/>
                <a:latin typeface="Arial" panose="020B0604020202020204" pitchFamily="34" charset="0"/>
              </a:rPr>
              <a:t>Strategy Pattern</a:t>
            </a:r>
            <a:r>
              <a:rPr kumimoji="0" lang="en-US" altLang="en-US" sz="2500" b="0" i="0" u="none" strike="noStrike" cap="none" normalizeH="0" baseline="0" dirty="0">
                <a:ln>
                  <a:noFill/>
                </a:ln>
                <a:solidFill>
                  <a:schemeClr val="tx1"/>
                </a:solidFill>
                <a:effectLst/>
                <a:latin typeface="Arial" panose="020B0604020202020204" pitchFamily="34" charset="0"/>
              </a:rPr>
              <a:t> for managers (</a:t>
            </a:r>
            <a:r>
              <a:rPr kumimoji="0" lang="en-US" altLang="en-US" sz="2500" b="0" i="0" u="none" strike="noStrike" cap="none" normalizeH="0" baseline="0" dirty="0" err="1">
                <a:ln>
                  <a:noFill/>
                </a:ln>
                <a:solidFill>
                  <a:schemeClr val="tx1"/>
                </a:solidFill>
                <a:effectLst/>
                <a:latin typeface="Arial Unicode MS"/>
              </a:rPr>
              <a:t>IncomeManager</a:t>
            </a:r>
            <a:r>
              <a:rPr kumimoji="0" lang="en-US" altLang="en-US" sz="2500" b="0" i="0" u="none" strike="noStrike" cap="none" normalizeH="0" baseline="0" dirty="0">
                <a:ln>
                  <a:noFill/>
                </a:ln>
                <a:solidFill>
                  <a:schemeClr val="tx1"/>
                </a:solidFill>
                <a:effectLst/>
              </a:rPr>
              <a:t>, </a:t>
            </a:r>
            <a:r>
              <a:rPr kumimoji="0" lang="en-US" altLang="en-US" sz="2500" b="0" i="0" u="none" strike="noStrike" cap="none" normalizeH="0" baseline="0" dirty="0" err="1">
                <a:ln>
                  <a:noFill/>
                </a:ln>
                <a:solidFill>
                  <a:schemeClr val="tx1"/>
                </a:solidFill>
                <a:effectLst/>
                <a:latin typeface="Arial Unicode MS"/>
              </a:rPr>
              <a:t>BudgetManager</a:t>
            </a:r>
            <a:r>
              <a:rPr kumimoji="0" lang="en-US" altLang="en-US" sz="2500" b="0" i="0" u="none" strike="noStrike" cap="none" normalizeH="0" baseline="0" dirty="0">
                <a:ln>
                  <a:noFill/>
                </a:ln>
                <a:solidFill>
                  <a:schemeClr val="tx1"/>
                </a:solidFill>
                <a:effectLst/>
              </a:rPr>
              <a:t>, etc.).</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Factory Pattern</a:t>
            </a:r>
            <a:r>
              <a:rPr kumimoji="0" lang="en-US" altLang="en-US" sz="2500" b="0" i="0" u="none" strike="noStrike" cap="none" normalizeH="0" baseline="0" dirty="0">
                <a:ln>
                  <a:noFill/>
                </a:ln>
                <a:solidFill>
                  <a:schemeClr val="tx1"/>
                </a:solidFill>
                <a:effectLst/>
                <a:latin typeface="Arial" panose="020B0604020202020204" pitchFamily="34" charset="0"/>
              </a:rPr>
              <a:t> is used for payment method creation (</a:t>
            </a:r>
            <a:r>
              <a:rPr kumimoji="0" lang="en-US" altLang="en-US" sz="2500" b="0" i="0" u="none" strike="noStrike" cap="none" normalizeH="0" baseline="0" dirty="0" err="1">
                <a:ln>
                  <a:noFill/>
                </a:ln>
                <a:solidFill>
                  <a:schemeClr val="tx1"/>
                </a:solidFill>
                <a:effectLst/>
                <a:latin typeface="Arial Unicode MS"/>
              </a:rPr>
              <a:t>CreditCard</a:t>
            </a:r>
            <a:r>
              <a:rPr kumimoji="0" lang="en-US" altLang="en-US" sz="2500" b="0" i="0" u="none" strike="noStrike" cap="none" normalizeH="0" baseline="0" dirty="0">
                <a:ln>
                  <a:noFill/>
                </a:ln>
                <a:solidFill>
                  <a:schemeClr val="tx1"/>
                </a:solidFill>
                <a:effectLst/>
              </a:rPr>
              <a:t>, </a:t>
            </a:r>
            <a:r>
              <a:rPr kumimoji="0" lang="en-US" altLang="en-US" sz="2500" b="0" i="0" u="none" strike="noStrike" cap="none" normalizeH="0" baseline="0" dirty="0" err="1">
                <a:ln>
                  <a:noFill/>
                </a:ln>
                <a:solidFill>
                  <a:schemeClr val="tx1"/>
                </a:solidFill>
                <a:effectLst/>
                <a:latin typeface="Arial Unicode MS"/>
              </a:rPr>
              <a:t>EWallet</a:t>
            </a:r>
            <a:r>
              <a:rPr kumimoji="0" lang="en-US" altLang="en-US" sz="2500" b="0" i="0" u="none" strike="noStrike" cap="none" normalizeH="0" baseline="0" dirty="0">
                <a:ln>
                  <a:noFill/>
                </a:ln>
                <a:solidFill>
                  <a:schemeClr val="tx1"/>
                </a:solidFill>
                <a:effectLst/>
              </a:rPr>
              <a:t>).</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Singleton Pattern</a:t>
            </a:r>
            <a:r>
              <a:rPr kumimoji="0" lang="en-US" altLang="en-US" sz="2500" b="0" i="0" u="none" strike="noStrike" cap="none" normalizeH="0" baseline="0" dirty="0">
                <a:ln>
                  <a:noFill/>
                </a:ln>
                <a:solidFill>
                  <a:schemeClr val="tx1"/>
                </a:solidFill>
                <a:effectLst/>
                <a:latin typeface="Arial" panose="020B0604020202020204" pitchFamily="34" charset="0"/>
              </a:rPr>
              <a:t> is applied to the </a:t>
            </a:r>
            <a:r>
              <a:rPr kumimoji="0" lang="en-US" altLang="en-US" sz="2500" b="0" i="0" u="none" strike="noStrike" cap="none" normalizeH="0" baseline="0" dirty="0">
                <a:ln>
                  <a:noFill/>
                </a:ln>
                <a:solidFill>
                  <a:schemeClr val="tx1"/>
                </a:solidFill>
                <a:effectLst/>
                <a:latin typeface="Arial Unicode MS"/>
              </a:rPr>
              <a:t>Database</a:t>
            </a:r>
            <a:r>
              <a:rPr kumimoji="0" lang="en-US" altLang="en-US" sz="2500" b="0" i="0" u="none" strike="noStrike" cap="none" normalizeH="0" baseline="0" dirty="0">
                <a:ln>
                  <a:noFill/>
                </a:ln>
                <a:solidFill>
                  <a:schemeClr val="tx1"/>
                </a:solidFill>
                <a:effectLst/>
              </a:rPr>
              <a:t> class for global access.</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These patterns improve flexibility, code reuse, and system consistency. </a:t>
            </a:r>
          </a:p>
        </p:txBody>
      </p:sp>
    </p:spTree>
    <p:extLst>
      <p:ext uri="{BB962C8B-B14F-4D97-AF65-F5344CB8AC3E}">
        <p14:creationId xmlns:p14="http://schemas.microsoft.com/office/powerpoint/2010/main" val="3643591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CD689-6D4F-BB1A-A6F4-07BE1A603C95}"/>
              </a:ext>
            </a:extLst>
          </p:cNvPr>
          <p:cNvSpPr>
            <a:spLocks noGrp="1"/>
          </p:cNvSpPr>
          <p:nvPr>
            <p:ph type="ctrTitle"/>
          </p:nvPr>
        </p:nvSpPr>
        <p:spPr>
          <a:xfrm>
            <a:off x="223520" y="232913"/>
            <a:ext cx="10302240" cy="3830130"/>
          </a:xfrm>
        </p:spPr>
        <p:txBody>
          <a:bodyPr/>
          <a:lstStyle/>
          <a:p>
            <a:r>
              <a:rPr lang="en-US" dirty="0"/>
              <a:t>Overview of the Application</a:t>
            </a:r>
          </a:p>
        </p:txBody>
      </p:sp>
    </p:spTree>
    <p:extLst>
      <p:ext uri="{BB962C8B-B14F-4D97-AF65-F5344CB8AC3E}">
        <p14:creationId xmlns:p14="http://schemas.microsoft.com/office/powerpoint/2010/main" val="2023152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96B85-1FDD-BA9C-02FA-FCBBD2C87150}"/>
              </a:ext>
            </a:extLst>
          </p:cNvPr>
          <p:cNvSpPr>
            <a:spLocks noGrp="1"/>
          </p:cNvSpPr>
          <p:nvPr>
            <p:ph type="title"/>
          </p:nvPr>
        </p:nvSpPr>
        <p:spPr/>
        <p:txBody>
          <a:bodyPr/>
          <a:lstStyle/>
          <a:p>
            <a:r>
              <a:rPr lang="en-US" dirty="0"/>
              <a:t>The application is made by C# and connecting to database</a:t>
            </a:r>
          </a:p>
        </p:txBody>
      </p:sp>
      <p:pic>
        <p:nvPicPr>
          <p:cNvPr id="5" name="Content Placeholder 4">
            <a:extLst>
              <a:ext uri="{FF2B5EF4-FFF2-40B4-BE49-F238E27FC236}">
                <a16:creationId xmlns:a16="http://schemas.microsoft.com/office/drawing/2014/main" id="{6A209F6D-AE96-3853-F675-8031621BF6F0}"/>
              </a:ext>
            </a:extLst>
          </p:cNvPr>
          <p:cNvPicPr>
            <a:picLocks noGrp="1" noChangeAspect="1"/>
          </p:cNvPicPr>
          <p:nvPr>
            <p:ph idx="1"/>
          </p:nvPr>
        </p:nvPicPr>
        <p:blipFill>
          <a:blip r:embed="rId2"/>
          <a:stretch>
            <a:fillRect/>
          </a:stretch>
        </p:blipFill>
        <p:spPr>
          <a:xfrm>
            <a:off x="1523512" y="1793441"/>
            <a:ext cx="8233552" cy="4942273"/>
          </a:xfrm>
        </p:spPr>
      </p:pic>
    </p:spTree>
    <p:extLst>
      <p:ext uri="{BB962C8B-B14F-4D97-AF65-F5344CB8AC3E}">
        <p14:creationId xmlns:p14="http://schemas.microsoft.com/office/powerpoint/2010/main" val="4034286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FB4C0AE-FAED-29E0-1A76-D0EA32AE0895}"/>
              </a:ext>
            </a:extLst>
          </p:cNvPr>
          <p:cNvSpPr>
            <a:spLocks noGrp="1"/>
          </p:cNvSpPr>
          <p:nvPr>
            <p:ph type="title"/>
          </p:nvPr>
        </p:nvSpPr>
        <p:spPr>
          <a:xfrm>
            <a:off x="1167492" y="136526"/>
            <a:ext cx="9779183" cy="1570038"/>
          </a:xfrm>
        </p:spPr>
        <p:txBody>
          <a:bodyPr/>
          <a:lstStyle/>
          <a:p>
            <a:r>
              <a:rPr lang="en-US" dirty="0"/>
              <a:t>Home Page &amp; Budgeting Page</a:t>
            </a:r>
          </a:p>
        </p:txBody>
      </p:sp>
      <p:pic>
        <p:nvPicPr>
          <p:cNvPr id="9" name="Content Placeholder 8">
            <a:extLst>
              <a:ext uri="{FF2B5EF4-FFF2-40B4-BE49-F238E27FC236}">
                <a16:creationId xmlns:a16="http://schemas.microsoft.com/office/drawing/2014/main" id="{DBE3E360-3F44-47C2-8483-3233BF44B799}"/>
              </a:ext>
            </a:extLst>
          </p:cNvPr>
          <p:cNvPicPr>
            <a:picLocks noGrp="1" noChangeAspect="1"/>
          </p:cNvPicPr>
          <p:nvPr>
            <p:ph idx="1"/>
          </p:nvPr>
        </p:nvPicPr>
        <p:blipFill>
          <a:blip r:embed="rId2"/>
          <a:stretch>
            <a:fillRect/>
          </a:stretch>
        </p:blipFill>
        <p:spPr>
          <a:xfrm>
            <a:off x="1380852" y="1872791"/>
            <a:ext cx="8677548" cy="4848683"/>
          </a:xfrm>
        </p:spPr>
      </p:pic>
    </p:spTree>
    <p:extLst>
      <p:ext uri="{BB962C8B-B14F-4D97-AF65-F5344CB8AC3E}">
        <p14:creationId xmlns:p14="http://schemas.microsoft.com/office/powerpoint/2010/main" val="118318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30EEF-8344-EAF6-E050-354F561B066A}"/>
              </a:ext>
            </a:extLst>
          </p:cNvPr>
          <p:cNvSpPr>
            <a:spLocks noGrp="1"/>
          </p:cNvSpPr>
          <p:nvPr>
            <p:ph type="ctrTitle"/>
          </p:nvPr>
        </p:nvSpPr>
        <p:spPr>
          <a:xfrm>
            <a:off x="913493" y="212593"/>
            <a:ext cx="8017147" cy="3830130"/>
          </a:xfrm>
        </p:spPr>
        <p:txBody>
          <a:bodyPr/>
          <a:lstStyle/>
          <a:p>
            <a:r>
              <a:rPr lang="en-US" dirty="0"/>
              <a:t>Tech Radar Technology</a:t>
            </a:r>
          </a:p>
        </p:txBody>
      </p:sp>
    </p:spTree>
    <p:extLst>
      <p:ext uri="{BB962C8B-B14F-4D97-AF65-F5344CB8AC3E}">
        <p14:creationId xmlns:p14="http://schemas.microsoft.com/office/powerpoint/2010/main" val="41092597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nchor="b">
            <a:normAutofit/>
          </a:bodyPr>
          <a:lstStyle/>
          <a:p>
            <a:r>
              <a:rPr lang="en-US" dirty="0"/>
              <a:t>Claude Sonnet </a:t>
            </a:r>
          </a:p>
        </p:txBody>
      </p:sp>
      <p:sp>
        <p:nvSpPr>
          <p:cNvPr id="3" name="Content Placeholder 2">
            <a:extLst>
              <a:ext uri="{FF2B5EF4-FFF2-40B4-BE49-F238E27FC236}">
                <a16:creationId xmlns:a16="http://schemas.microsoft.com/office/drawing/2014/main" id="{C932D3B2-9041-250A-B758-072CFA39DFB6}"/>
              </a:ext>
            </a:extLst>
          </p:cNvPr>
          <p:cNvSpPr>
            <a:spLocks noGrp="1" noChangeArrowheads="1"/>
          </p:cNvSpPr>
          <p:nvPr>
            <p:ph idx="1"/>
          </p:nvPr>
        </p:nvSpPr>
        <p:spPr bwMode="auto">
          <a:xfrm>
            <a:off x="1167492" y="1922384"/>
            <a:ext cx="9520828" cy="3332832"/>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Autofit/>
          </a:bodyPr>
          <a:lstStyle/>
          <a:p>
            <a:pPr marL="0" marR="0" lvl="0" indent="0" defTabSz="914400" rtl="0" eaLnBrk="0" fontAlgn="base" latinLnBrk="0" hangingPunct="0">
              <a:spcBef>
                <a:spcPct val="0"/>
              </a:spcBef>
              <a:spcAft>
                <a:spcPts val="600"/>
              </a:spcAft>
              <a:buClrTx/>
              <a:buSzTx/>
              <a:buFontTx/>
              <a:buNone/>
              <a:tabLst/>
            </a:pPr>
            <a:r>
              <a:rPr kumimoji="0" lang="en-US" altLang="en-US" sz="2800" b="0" i="0" u="none" strike="noStrike" cap="none" normalizeH="0" baseline="0" dirty="0">
                <a:ln>
                  <a:noFill/>
                </a:ln>
                <a:effectLst/>
              </a:rPr>
              <a:t>Claude Sonnet is an advanced language model that excels in coding, writing, analysis and visual processing, refers to a series of advanced AI models in Anthropic’s Claude family, designed as mid-tier models that balance capability and performance. </a:t>
            </a:r>
          </a:p>
          <a:p>
            <a:pPr marL="0" marR="0" lvl="0" indent="0" defTabSz="914400" rtl="0" eaLnBrk="0" fontAlgn="base" latinLnBrk="0" hangingPunct="0">
              <a:spcBef>
                <a:spcPct val="0"/>
              </a:spcBef>
              <a:spcAft>
                <a:spcPts val="600"/>
              </a:spcAft>
              <a:buClrTx/>
              <a:buSzTx/>
              <a:buFontTx/>
              <a:buNone/>
              <a:tabLst/>
            </a:pPr>
            <a:r>
              <a:rPr kumimoji="0" lang="en-US" altLang="en-US" sz="2800" b="0" i="0" u="none" strike="noStrike" cap="none" normalizeH="0" baseline="0" dirty="0">
                <a:ln>
                  <a:noFill/>
                </a:ln>
                <a:effectLst/>
              </a:rPr>
              <a:t>It is among the strongest AI coding assistants available, but it should be used responsibly. It significantly aids productivity, especially in early design and heavy coding tasks, but all outputs should be validated. </a:t>
            </a:r>
          </a:p>
          <a:p>
            <a:pPr marL="0" marR="0" lvl="0" indent="0" defTabSz="914400" rtl="0" eaLnBrk="0" fontAlgn="base" latinLnBrk="0" hangingPunct="0">
              <a:spcBef>
                <a:spcPct val="0"/>
              </a:spcBef>
              <a:spcAft>
                <a:spcPts val="600"/>
              </a:spcAft>
              <a:buClrTx/>
              <a:buSzTx/>
              <a:buFontTx/>
              <a:buNone/>
              <a:tabLst/>
            </a:pPr>
            <a:endParaRPr kumimoji="0" lang="en-US" altLang="en-US" sz="2800" b="0" i="0" u="none" strike="noStrike" cap="none" normalizeH="0" baseline="0" dirty="0">
              <a:ln>
                <a:noFill/>
              </a:ln>
              <a:effectLst/>
            </a:endParaRPr>
          </a:p>
        </p:txBody>
      </p:sp>
    </p:spTree>
    <p:extLst>
      <p:ext uri="{BB962C8B-B14F-4D97-AF65-F5344CB8AC3E}">
        <p14:creationId xmlns:p14="http://schemas.microsoft.com/office/powerpoint/2010/main" val="5683271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933EB-0838-80DA-4217-6DB1342E81EA}"/>
              </a:ext>
            </a:extLst>
          </p:cNvPr>
          <p:cNvSpPr>
            <a:spLocks noGrp="1"/>
          </p:cNvSpPr>
          <p:nvPr>
            <p:ph type="title"/>
          </p:nvPr>
        </p:nvSpPr>
        <p:spPr/>
        <p:txBody>
          <a:bodyPr/>
          <a:lstStyle/>
          <a:p>
            <a:r>
              <a:rPr lang="en-US" dirty="0"/>
              <a:t>UV</a:t>
            </a:r>
          </a:p>
        </p:txBody>
      </p:sp>
      <p:sp>
        <p:nvSpPr>
          <p:cNvPr id="3" name="Content Placeholder 2">
            <a:extLst>
              <a:ext uri="{FF2B5EF4-FFF2-40B4-BE49-F238E27FC236}">
                <a16:creationId xmlns:a16="http://schemas.microsoft.com/office/drawing/2014/main" id="{FFE0CA09-CA4E-759E-C6DF-2A35EE63424E}"/>
              </a:ext>
            </a:extLst>
          </p:cNvPr>
          <p:cNvSpPr>
            <a:spLocks noGrp="1"/>
          </p:cNvSpPr>
          <p:nvPr>
            <p:ph idx="1"/>
          </p:nvPr>
        </p:nvSpPr>
        <p:spPr/>
        <p:txBody>
          <a:bodyPr/>
          <a:lstStyle/>
          <a:p>
            <a:r>
              <a:rPr lang="en-US" dirty="0" err="1"/>
              <a:t>Uv</a:t>
            </a:r>
            <a:r>
              <a:rPr lang="en-US" dirty="0"/>
              <a:t> is a modern and characteristically fast python package manager written in Rust. It is designed to fully replace the default package manger pip, and to significantly enhance Python development.</a:t>
            </a:r>
          </a:p>
          <a:p>
            <a:r>
              <a:rPr lang="en-US" dirty="0"/>
              <a:t>The main selling point of </a:t>
            </a:r>
            <a:r>
              <a:rPr lang="en-US" dirty="0" err="1"/>
              <a:t>uv</a:t>
            </a:r>
            <a:r>
              <a:rPr lang="en-US" dirty="0"/>
              <a:t> is speed. On average in benchmark tests, </a:t>
            </a:r>
            <a:r>
              <a:rPr lang="en-US" dirty="0" err="1"/>
              <a:t>uv</a:t>
            </a:r>
            <a:r>
              <a:rPr lang="en-US" dirty="0"/>
              <a:t> installs dependencies 10-100x faster than pip. This is due to </a:t>
            </a:r>
            <a:r>
              <a:rPr lang="en-US" dirty="0" err="1"/>
              <a:t>uv</a:t>
            </a:r>
            <a:r>
              <a:rPr lang="en-US" dirty="0"/>
              <a:t> utilizing parallel downloading and Rust’s native speed</a:t>
            </a:r>
          </a:p>
        </p:txBody>
      </p:sp>
    </p:spTree>
    <p:extLst>
      <p:ext uri="{BB962C8B-B14F-4D97-AF65-F5344CB8AC3E}">
        <p14:creationId xmlns:p14="http://schemas.microsoft.com/office/powerpoint/2010/main" val="3241933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5CA8-58BB-5641-6D48-5C1AD3482257}"/>
              </a:ext>
            </a:extLst>
          </p:cNvPr>
          <p:cNvSpPr>
            <a:spLocks noGrp="1"/>
          </p:cNvSpPr>
          <p:nvPr>
            <p:ph type="title"/>
          </p:nvPr>
        </p:nvSpPr>
        <p:spPr/>
        <p:txBody>
          <a:bodyPr/>
          <a:lstStyle/>
          <a:p>
            <a:r>
              <a:rPr lang="en-US" dirty="0"/>
              <a:t>JSON Crack</a:t>
            </a:r>
          </a:p>
        </p:txBody>
      </p:sp>
      <p:sp>
        <p:nvSpPr>
          <p:cNvPr id="3" name="Content Placeholder 2">
            <a:extLst>
              <a:ext uri="{FF2B5EF4-FFF2-40B4-BE49-F238E27FC236}">
                <a16:creationId xmlns:a16="http://schemas.microsoft.com/office/drawing/2014/main" id="{63A32AC1-8288-A916-B193-9E05B81F6E6F}"/>
              </a:ext>
            </a:extLst>
          </p:cNvPr>
          <p:cNvSpPr>
            <a:spLocks noGrp="1"/>
          </p:cNvSpPr>
          <p:nvPr>
            <p:ph idx="1"/>
          </p:nvPr>
        </p:nvSpPr>
        <p:spPr>
          <a:xfrm>
            <a:off x="1158864" y="2108907"/>
            <a:ext cx="9779182" cy="3366815"/>
          </a:xfrm>
        </p:spPr>
        <p:txBody>
          <a:bodyPr>
            <a:normAutofit lnSpcReduction="10000"/>
          </a:bodyPr>
          <a:lstStyle/>
          <a:p>
            <a:r>
              <a:rPr lang="en-US" dirty="0">
                <a:effectLst/>
                <a:latin typeface="Calibri" panose="020F0502020204030204" pitchFamily="34" charset="0"/>
                <a:ea typeface="Calibri" panose="020F0502020204030204" pitchFamily="34" charset="0"/>
              </a:rPr>
              <a:t>JSON Crack is an open-source, user-friendly tool designed to visualize and manipulate structured data formats such as JSON, YAML, CSV, XML, and TOML. By transforming complex data into interactive graphs and tree views, it simplifies data exploration and analysis for developers, data analysts, and anyone working with structured datasets. Available as an online editor, a VS Code extension, and a Docker container, JSON Crack has gained significant popularity, boasting over 23.3K GitHub stars and millions of views.</a:t>
            </a:r>
          </a:p>
          <a:p>
            <a:endParaRPr lang="en-US" dirty="0"/>
          </a:p>
        </p:txBody>
      </p:sp>
    </p:spTree>
    <p:extLst>
      <p:ext uri="{BB962C8B-B14F-4D97-AF65-F5344CB8AC3E}">
        <p14:creationId xmlns:p14="http://schemas.microsoft.com/office/powerpoint/2010/main" val="35870755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r>
              <a:rPr lang="en-US" dirty="0"/>
              <a:t>Thank you</a:t>
            </a:r>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2919512"/>
          </a:xfrm>
        </p:spPr>
        <p:txBody>
          <a:bodyPr/>
          <a:lstStyle/>
          <a:p>
            <a:r>
              <a:rPr lang="en-US" dirty="0"/>
              <a:t>Marawan mohamed </a:t>
            </a:r>
          </a:p>
          <a:p>
            <a:r>
              <a:rPr lang="en-US" dirty="0">
                <a:effectLst/>
                <a:latin typeface="Calibri" panose="020F0502020204030204" pitchFamily="34" charset="0"/>
                <a:ea typeface="Calibri" panose="020F0502020204030204" pitchFamily="34" charset="0"/>
                <a:cs typeface="Arial" panose="020B0604020202020204" pitchFamily="34" charset="0"/>
              </a:rPr>
              <a:t>Ziad Sabri</a:t>
            </a:r>
          </a:p>
          <a:p>
            <a:r>
              <a:rPr lang="en-US" dirty="0">
                <a:effectLst/>
                <a:latin typeface="Calibri" panose="020F0502020204030204" pitchFamily="34" charset="0"/>
                <a:ea typeface="Calibri" panose="020F0502020204030204" pitchFamily="34" charset="0"/>
                <a:cs typeface="Arial" panose="020B0604020202020204" pitchFamily="34" charset="0"/>
              </a:rPr>
              <a:t>Samir Sherif</a:t>
            </a:r>
            <a:endParaRPr lang="en-US" dirty="0"/>
          </a:p>
        </p:txBody>
      </p:sp>
    </p:spTree>
    <p:extLst>
      <p:ext uri="{BB962C8B-B14F-4D97-AF65-F5344CB8AC3E}">
        <p14:creationId xmlns:p14="http://schemas.microsoft.com/office/powerpoint/2010/main" val="1609673525"/>
      </p:ext>
    </p:extLst>
  </p:cSld>
  <p:clrMapOvr>
    <a:masterClrMapping/>
  </p:clrMapOvr>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2.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{4CCA687A-E689-4291-9319-C0DF8F0B47FE}tf45331398_win32</Template>
  <TotalTime>175</TotalTime>
  <Words>775</Words>
  <Application>Microsoft Office PowerPoint</Application>
  <PresentationFormat>Widescreen</PresentationFormat>
  <Paragraphs>70</Paragraphs>
  <Slides>19</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Arial Unicode MS</vt:lpstr>
      <vt:lpstr>Calibri</vt:lpstr>
      <vt:lpstr>Tenorite</vt:lpstr>
      <vt:lpstr>Custom</vt:lpstr>
      <vt:lpstr>SDS</vt:lpstr>
      <vt:lpstr>Content </vt:lpstr>
      <vt:lpstr>Architecture Diagram  </vt:lpstr>
      <vt:lpstr>Class Diagram </vt:lpstr>
      <vt:lpstr>Class Description </vt:lpstr>
      <vt:lpstr>Class Description – continued </vt:lpstr>
      <vt:lpstr>Sequence Diagrams</vt:lpstr>
      <vt:lpstr>User Story #3 - Tracking Income</vt:lpstr>
      <vt:lpstr>State Diagram</vt:lpstr>
      <vt:lpstr>SOLID Principles</vt:lpstr>
      <vt:lpstr>Design Patterns</vt:lpstr>
      <vt:lpstr>Overview of the Application</vt:lpstr>
      <vt:lpstr>The application is made by C# and connecting to database</vt:lpstr>
      <vt:lpstr>Home Page &amp; Budgeting Page</vt:lpstr>
      <vt:lpstr>Tech Radar Technology</vt:lpstr>
      <vt:lpstr>Claude Sonnet </vt:lpstr>
      <vt:lpstr>UV</vt:lpstr>
      <vt:lpstr>JSON Crack</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SDS</dc:title>
  <dc:creator>marawan mohamed</dc:creator>
  <cp:lastModifiedBy>سمير شريف شكرى عبدالهادى</cp:lastModifiedBy>
  <cp:revision>4</cp:revision>
  <dcterms:created xsi:type="dcterms:W3CDTF">2025-05-10T17:34:39Z</dcterms:created>
  <dcterms:modified xsi:type="dcterms:W3CDTF">2025-05-11T09:01:58Z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