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56" r:id="rId5"/>
    <p:sldId id="257" r:id="rId6"/>
    <p:sldId id="286" r:id="rId7"/>
    <p:sldId id="299" r:id="rId8"/>
    <p:sldId id="303" r:id="rId9"/>
    <p:sldId id="291" r:id="rId10"/>
    <p:sldId id="289" r:id="rId11"/>
    <p:sldId id="300" r:id="rId12"/>
    <p:sldId id="290" r:id="rId13"/>
    <p:sldId id="301" r:id="rId14"/>
    <p:sldId id="302" r:id="rId15"/>
    <p:sldId id="304" r:id="rId16"/>
    <p:sldId id="296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93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646" autoAdjust="0"/>
  </p:normalViewPr>
  <p:slideViewPr>
    <p:cSldViewPr snapToGrid="0">
      <p:cViewPr varScale="1">
        <p:scale>
          <a:sx n="78" d="100"/>
          <a:sy n="78" d="100"/>
        </p:scale>
        <p:origin x="878" y="72"/>
      </p:cViewPr>
      <p:guideLst/>
    </p:cSldViewPr>
  </p:slideViewPr>
  <p:outlineViewPr>
    <p:cViewPr>
      <p:scale>
        <a:sx n="33" d="100"/>
        <a:sy n="33" d="100"/>
      </p:scale>
      <p:origin x="0" y="-576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325"/>
    </p:cViewPr>
  </p:sorterViewPr>
  <p:notesViewPr>
    <p:cSldViewPr snapToGrid="0">
      <p:cViewPr varScale="1">
        <p:scale>
          <a:sx n="58" d="100"/>
          <a:sy n="58" d="100"/>
        </p:scale>
        <p:origin x="2371" y="6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FB8B65A-D69F-C26C-B67E-036EF77BF1F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2B9064-AE57-427F-E5AF-71DE7D52FE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8190EA-5EEC-4300-B6AE-D9734C6C648E}" type="datetimeFigureOut">
              <a:rPr lang="en-US" smtClean="0"/>
              <a:t>5/10/2025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86157A-CEB9-B0FC-3A49-BE950AEAD6F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819CA0-A57D-42D7-A625-56C22D0FA7C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FF3A6F-DEFA-45E0-9496-BEE7C2C6F3D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600222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87ADD9-2083-264C-A652-8D52D02F7E72}" type="datetimeFigureOut">
              <a:rPr lang="en-US" smtClean="0"/>
              <a:t>5/10/2025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7DC217-DF71-1A49-B3EA-559F1F43B0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64252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93858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52478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89489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9639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72988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48444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47933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3129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90868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94046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12210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91129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0086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AC79249-FDC0-364D-A734-AE1DE1605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572000"/>
            <a:ext cx="12192000" cy="2286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3537B6D-42A5-F449-2691-321A167F7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3419"/>
            <a:ext cx="12192000" cy="6861419"/>
            <a:chOff x="0" y="-3419"/>
            <a:chExt cx="12192000" cy="6861419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02465C8-266D-104C-9C49-323DF4A8277E}"/>
                </a:ext>
              </a:extLst>
            </p:cNvPr>
            <p:cNvSpPr/>
            <p:nvPr userDrawn="1"/>
          </p:nvSpPr>
          <p:spPr>
            <a:xfrm>
              <a:off x="583746" y="4960030"/>
              <a:ext cx="1551214" cy="1551214"/>
            </a:xfrm>
            <a:prstGeom prst="ellipse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37979A1C-BF60-B345-A664-2E4F7A3461EB}"/>
                </a:ext>
              </a:extLst>
            </p:cNvPr>
            <p:cNvSpPr/>
            <p:nvPr userDrawn="1"/>
          </p:nvSpPr>
          <p:spPr>
            <a:xfrm>
              <a:off x="1" y="4571999"/>
              <a:ext cx="1118508" cy="1118508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58080B3E-915C-2D4C-8608-596E1BFD6387}"/>
                </a:ext>
              </a:extLst>
            </p:cNvPr>
            <p:cNvSpPr/>
            <p:nvPr userDrawn="1"/>
          </p:nvSpPr>
          <p:spPr>
            <a:xfrm>
              <a:off x="1" y="5739492"/>
              <a:ext cx="1118508" cy="1118508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15FBB50-09C8-B64E-AE57-67C5E70810CB}"/>
                </a:ext>
              </a:extLst>
            </p:cNvPr>
            <p:cNvGrpSpPr/>
            <p:nvPr userDrawn="1"/>
          </p:nvGrpSpPr>
          <p:grpSpPr>
            <a:xfrm>
              <a:off x="8264427" y="-3419"/>
              <a:ext cx="3927573" cy="3165022"/>
              <a:chOff x="9857014" y="13834"/>
              <a:chExt cx="2334986" cy="1881641"/>
            </a:xfrm>
          </p:grpSpPr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C68F289-2744-2F48-893A-3F17911625C8}"/>
                </a:ext>
              </a:extLst>
            </p:cNvPr>
            <p:cNvSpPr/>
            <p:nvPr userDrawn="1"/>
          </p:nvSpPr>
          <p:spPr>
            <a:xfrm>
              <a:off x="0" y="-1"/>
              <a:ext cx="1167493" cy="1167493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9E240E8A-950E-7946-826C-415CB5DACA43}"/>
                </a:ext>
              </a:extLst>
            </p:cNvPr>
            <p:cNvSpPr/>
            <p:nvPr userDrawn="1"/>
          </p:nvSpPr>
          <p:spPr>
            <a:xfrm>
              <a:off x="11024507" y="4580708"/>
              <a:ext cx="1167493" cy="2277292"/>
            </a:xfrm>
            <a:custGeom>
              <a:avLst/>
              <a:gdLst>
                <a:gd name="connsiteX0" fmla="*/ 1167473 w 1167493"/>
                <a:gd name="connsiteY0" fmla="*/ 0 h 2272167"/>
                <a:gd name="connsiteX1" fmla="*/ 1167493 w 1167493"/>
                <a:gd name="connsiteY1" fmla="*/ 0 h 2272167"/>
                <a:gd name="connsiteX2" fmla="*/ 1167493 w 1167493"/>
                <a:gd name="connsiteY2" fmla="*/ 492960 h 2272167"/>
                <a:gd name="connsiteX3" fmla="*/ 1167493 w 1167493"/>
                <a:gd name="connsiteY3" fmla="*/ 720385 h 2272167"/>
                <a:gd name="connsiteX4" fmla="*/ 1167493 w 1167493"/>
                <a:gd name="connsiteY4" fmla="*/ 2272167 h 2272167"/>
                <a:gd name="connsiteX5" fmla="*/ 0 w 1167493"/>
                <a:gd name="connsiteY5" fmla="*/ 2272167 h 2272167"/>
                <a:gd name="connsiteX6" fmla="*/ 0 w 1167493"/>
                <a:gd name="connsiteY6" fmla="*/ 1898074 h 2272167"/>
                <a:gd name="connsiteX7" fmla="*/ 0 w 1167493"/>
                <a:gd name="connsiteY7" fmla="*/ 1271597 h 2272167"/>
                <a:gd name="connsiteX8" fmla="*/ 0 w 1167493"/>
                <a:gd name="connsiteY8" fmla="*/ 1177688 h 2272167"/>
                <a:gd name="connsiteX9" fmla="*/ 1048124 w 1167493"/>
                <a:gd name="connsiteY9" fmla="*/ 6080 h 2272167"/>
                <a:gd name="connsiteX10" fmla="*/ 1167473 w 1167493"/>
                <a:gd name="connsiteY10" fmla="*/ 0 h 2272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67493" h="2272167">
                  <a:moveTo>
                    <a:pt x="1167473" y="0"/>
                  </a:moveTo>
                  <a:lnTo>
                    <a:pt x="1167493" y="0"/>
                  </a:lnTo>
                  <a:lnTo>
                    <a:pt x="1167493" y="492960"/>
                  </a:lnTo>
                  <a:lnTo>
                    <a:pt x="1167493" y="720385"/>
                  </a:lnTo>
                  <a:lnTo>
                    <a:pt x="1167493" y="2272167"/>
                  </a:lnTo>
                  <a:lnTo>
                    <a:pt x="0" y="2272167"/>
                  </a:lnTo>
                  <a:lnTo>
                    <a:pt x="0" y="1898074"/>
                  </a:lnTo>
                  <a:lnTo>
                    <a:pt x="0" y="1271597"/>
                  </a:lnTo>
                  <a:lnTo>
                    <a:pt x="0" y="1177688"/>
                  </a:lnTo>
                  <a:cubicBezTo>
                    <a:pt x="0" y="567919"/>
                    <a:pt x="459408" y="66389"/>
                    <a:pt x="1048124" y="6080"/>
                  </a:cubicBezTo>
                  <a:lnTo>
                    <a:pt x="1167473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3" y="232913"/>
            <a:ext cx="7096933" cy="3830130"/>
          </a:xfrm>
        </p:spPr>
        <p:txBody>
          <a:bodyPr anchor="b">
            <a:noAutofit/>
          </a:bodyPr>
          <a:lstStyle>
            <a:lvl1pPr algn="l">
              <a:defRPr sz="60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64985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AC10D125-AB73-D276-4947-94204736A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latin typeface="+mn-lt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58864" y="102021"/>
            <a:ext cx="9779183" cy="1744415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58865" y="2017467"/>
            <a:ext cx="9779182" cy="3366815"/>
          </a:xfrm>
        </p:spPr>
        <p:txBody>
          <a:bodyPr>
            <a:normAutofit/>
          </a:bodyPr>
          <a:lstStyle>
            <a:lvl1pPr marL="0" indent="0">
              <a:buNone/>
              <a:defRPr>
                <a:latin typeface="+mn-lt"/>
              </a:defRPr>
            </a:lvl1pPr>
            <a:lvl2pPr marL="457200" indent="0">
              <a:buNone/>
              <a:defRPr>
                <a:latin typeface="+mn-lt"/>
              </a:defRPr>
            </a:lvl2pPr>
            <a:lvl3pPr marL="914400" indent="0">
              <a:buNone/>
              <a:defRPr>
                <a:latin typeface="+mn-lt"/>
              </a:defRPr>
            </a:lvl3pPr>
            <a:lvl4pPr marL="1371600" indent="0">
              <a:buNone/>
              <a:defRPr>
                <a:latin typeface="+mn-lt"/>
              </a:defRPr>
            </a:lvl4pPr>
            <a:lvl5pPr marL="1828800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271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Righ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AC10D125-AB73-D276-4947-94204736A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latin typeface="+mn-lt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71600"/>
            <a:ext cx="5486400" cy="4114800"/>
          </a:xfrm>
        </p:spPr>
        <p:txBody>
          <a:bodyPr anchor="ctr" anchorCtr="0">
            <a:noAutofit/>
          </a:bodyPr>
          <a:lstStyle>
            <a:lvl1pPr>
              <a:defRPr sz="60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124234B-E1C4-2616-9993-A23142AA69B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83438" y="1168400"/>
            <a:ext cx="4500562" cy="4521200"/>
          </a:xfrm>
          <a:prstGeom prst="ellipse">
            <a:avLst/>
          </a:prstGeom>
          <a:solidFill>
            <a:schemeClr val="accent2"/>
          </a:solidFill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1266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EDB282-8288-C81F-52B5-048A3E80C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1"/>
            <a:ext cx="12208822" cy="6858003"/>
            <a:chOff x="0" y="-1"/>
            <a:chExt cx="12208822" cy="685800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A62587F-7496-384A-AF40-18FC8CF0709D}"/>
                </a:ext>
              </a:extLst>
            </p:cNvPr>
            <p:cNvSpPr/>
            <p:nvPr userDrawn="1"/>
          </p:nvSpPr>
          <p:spPr>
            <a:xfrm>
              <a:off x="0" y="2286002"/>
              <a:ext cx="12208822" cy="45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84DB028B-A475-224B-B675-A15A56CAD0BF}"/>
                </a:ext>
              </a:extLst>
            </p:cNvPr>
            <p:cNvSpPr/>
            <p:nvPr userDrawn="1"/>
          </p:nvSpPr>
          <p:spPr>
            <a:xfrm flipH="1">
              <a:off x="8597718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61C34955-105B-4D4D-B51D-754C5D38A85D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2734DEB1-EC02-2E42-9292-4ADD115060A5}"/>
                </a:ext>
              </a:extLst>
            </p:cNvPr>
            <p:cNvSpPr/>
            <p:nvPr userDrawn="1"/>
          </p:nvSpPr>
          <p:spPr>
            <a:xfrm rot="5400000" flipH="1" flipV="1">
              <a:off x="10344100" y="438098"/>
              <a:ext cx="2285999" cy="1409801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13" name="Title 1">
            <a:extLst>
              <a:ext uri="{FF2B5EF4-FFF2-40B4-BE49-F238E27FC236}">
                <a16:creationId xmlns:a16="http://schemas.microsoft.com/office/drawing/2014/main" id="{5E932F0D-7FC3-634B-932C-3625C16C8D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45085"/>
            <a:ext cx="9779183" cy="1600835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EED44-783E-8705-4119-D7E9F7D4F2B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166087" y="2652713"/>
            <a:ext cx="9780587" cy="3436936"/>
          </a:xfrm>
        </p:spPr>
        <p:txBody>
          <a:bodyPr>
            <a:normAutofit/>
          </a:bodyPr>
          <a:lstStyle>
            <a:lvl1pPr marL="342900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1pPr>
            <a:lvl2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2pPr>
            <a:lvl3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3pPr>
            <a:lvl4pPr marL="1097280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4pPr>
            <a:lvl5pPr marL="1371600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95D4F5-F69B-42F6-8A9D-330F696E1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2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79A23A-2238-4904-8692-9F2DAE8B8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2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9FC35-DDC8-45FB-8ACB-21C15F57C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06318" y="6356350"/>
            <a:ext cx="1604682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accent3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31769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5FBCE6F-2AA9-31FE-8148-33B480735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067EACEC-C2DD-EA42-8504-176673AD1F20}"/>
                </a:ext>
              </a:extLst>
            </p:cNvPr>
            <p:cNvSpPr/>
            <p:nvPr userDrawn="1"/>
          </p:nvSpPr>
          <p:spPr>
            <a:xfrm>
              <a:off x="0" y="0"/>
              <a:ext cx="8025490" cy="6858000"/>
            </a:xfrm>
            <a:custGeom>
              <a:avLst/>
              <a:gdLst>
                <a:gd name="connsiteX0" fmla="*/ 0 w 8025490"/>
                <a:gd name="connsiteY0" fmla="*/ 0 h 6858000"/>
                <a:gd name="connsiteX1" fmla="*/ 4596490 w 8025490"/>
                <a:gd name="connsiteY1" fmla="*/ 0 h 6858000"/>
                <a:gd name="connsiteX2" fmla="*/ 8025490 w 8025490"/>
                <a:gd name="connsiteY2" fmla="*/ 3429000 h 6858000"/>
                <a:gd name="connsiteX3" fmla="*/ 4596490 w 8025490"/>
                <a:gd name="connsiteY3" fmla="*/ 6858000 h 6858000"/>
                <a:gd name="connsiteX4" fmla="*/ 0 w 8025490"/>
                <a:gd name="connsiteY4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25490" h="6858000">
                  <a:moveTo>
                    <a:pt x="0" y="0"/>
                  </a:moveTo>
                  <a:lnTo>
                    <a:pt x="4596490" y="0"/>
                  </a:lnTo>
                  <a:cubicBezTo>
                    <a:pt x="6490274" y="0"/>
                    <a:pt x="8025490" y="1535216"/>
                    <a:pt x="8025490" y="3429000"/>
                  </a:cubicBezTo>
                  <a:cubicBezTo>
                    <a:pt x="8025490" y="5322784"/>
                    <a:pt x="6490274" y="6858000"/>
                    <a:pt x="4596490" y="6858000"/>
                  </a:cubicBezTo>
                  <a:lnTo>
                    <a:pt x="0" y="685800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9843C7E-5704-7A46-8974-F3BFA42E7310}"/>
                </a:ext>
              </a:extLst>
            </p:cNvPr>
            <p:cNvGrpSpPr/>
            <p:nvPr userDrawn="1"/>
          </p:nvGrpSpPr>
          <p:grpSpPr>
            <a:xfrm rot="16200000">
              <a:off x="8286528" y="2207195"/>
              <a:ext cx="3032351" cy="2443610"/>
              <a:chOff x="9857014" y="13834"/>
              <a:chExt cx="2334986" cy="1881641"/>
            </a:xfrm>
          </p:grpSpPr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0B179973-08D2-EF40-B516-35E75E906394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6C811FF3-E48A-194D-8022-65F8C3A17449}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4" y="177553"/>
            <a:ext cx="6245912" cy="3269447"/>
          </a:xfrm>
        </p:spPr>
        <p:txBody>
          <a:bodyPr bIns="0" anchor="b">
            <a:noAutofit/>
          </a:bodyPr>
          <a:lstStyle>
            <a:lvl1pPr algn="l">
              <a:defRPr sz="60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7494" y="3492896"/>
            <a:ext cx="6245912" cy="912850"/>
          </a:xfrm>
        </p:spPr>
        <p:txBody>
          <a:bodyPr anchor="ctr" anchorCtr="0">
            <a:no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9865294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14DB56B5-5DD7-95E3-52B2-EDC4B3F13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6526"/>
            <a:ext cx="9601200" cy="1653371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67493" y="2023984"/>
            <a:ext cx="4663440" cy="333283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sz="2000"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94CA559C-3355-DE44-ACF9-BDB6083C4225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283235" y="2023984"/>
            <a:ext cx="4663440" cy="333283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sz="2000"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7843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A0E8D4A-B13C-C7EE-5E27-278124A127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1"/>
            <a:ext cx="12191999" cy="6857999"/>
            <a:chOff x="1" y="1"/>
            <a:chExt cx="12191999" cy="6857999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 rot="5400000" flipH="1">
              <a:off x="1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69008"/>
            <a:ext cx="9779183" cy="1706563"/>
          </a:xfrm>
        </p:spPr>
        <p:txBody>
          <a:bodyPr anchor="b">
            <a:noAutofit/>
          </a:bodyPr>
          <a:lstStyle>
            <a:lvl1pPr>
              <a:defRPr sz="4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26B296A-EB6A-9BE9-E813-B15C46524F4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1167493" y="2023984"/>
            <a:ext cx="4663440" cy="3332832"/>
          </a:xfrm>
        </p:spPr>
        <p:txBody>
          <a:bodyPr>
            <a:normAutofit/>
          </a:bodyPr>
          <a:lstStyle>
            <a:lvl1pPr marL="530352" indent="-530352">
              <a:spcBef>
                <a:spcPts val="1000"/>
              </a:spcBef>
              <a:buFont typeface="+mj-lt"/>
              <a:buAutoNum type="arabicPeriod"/>
              <a:defRPr sz="2000">
                <a:solidFill>
                  <a:schemeClr val="bg1"/>
                </a:solidFill>
                <a:latin typeface="+mn-lt"/>
              </a:defRPr>
            </a:lvl1pPr>
            <a:lvl2pPr marL="1097280" indent="-530352">
              <a:spcBef>
                <a:spcPts val="1000"/>
              </a:spcBef>
              <a:buFont typeface="+mj-lt"/>
              <a:buAutoNum type="alphaLcPeriod"/>
              <a:defRPr sz="2000">
                <a:solidFill>
                  <a:schemeClr val="bg1"/>
                </a:solidFill>
                <a:latin typeface="+mn-lt"/>
              </a:defRPr>
            </a:lvl2pPr>
            <a:lvl3pPr marL="1645920" indent="-530352">
              <a:spcBef>
                <a:spcPts val="1000"/>
              </a:spcBef>
              <a:buFont typeface="+mj-lt"/>
              <a:buAutoNum type="arabicParenR"/>
              <a:defRPr sz="2000">
                <a:solidFill>
                  <a:schemeClr val="bg1"/>
                </a:solidFill>
                <a:latin typeface="+mn-lt"/>
              </a:defRPr>
            </a:lvl3pPr>
            <a:lvl4pPr marL="1920240" indent="-530352">
              <a:spcBef>
                <a:spcPts val="1000"/>
              </a:spcBef>
              <a:buFont typeface="+mj-lt"/>
              <a:buAutoNum type="alphaLcParenR"/>
              <a:defRPr sz="2000">
                <a:solidFill>
                  <a:schemeClr val="bg1"/>
                </a:solidFill>
                <a:latin typeface="+mn-lt"/>
              </a:defRPr>
            </a:lvl4pPr>
            <a:lvl5pPr marL="2560320" indent="-514350">
              <a:spcBef>
                <a:spcPts val="1000"/>
              </a:spcBef>
              <a:buFont typeface="+mj-lt"/>
              <a:buAutoNum type="romanLcPeriod"/>
              <a:defRPr sz="20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435B7D5-E7F8-1267-8942-3C97BE836B98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83235" y="2023984"/>
            <a:ext cx="4663440" cy="333283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sz="2000">
                <a:solidFill>
                  <a:schemeClr val="bg1"/>
                </a:solidFill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4266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hart 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BA2A58C-57B7-834C-8F5C-3299322411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6200000">
            <a:off x="10772262" y="152641"/>
            <a:ext cx="1572380" cy="1267097"/>
            <a:chOff x="7413403" y="4976359"/>
            <a:chExt cx="2334986" cy="1881641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801D8067-144A-FE48-AF1E-529B662DCAD3}"/>
                </a:ext>
              </a:extLst>
            </p:cNvPr>
            <p:cNvSpPr/>
            <p:nvPr userDrawn="1"/>
          </p:nvSpPr>
          <p:spPr>
            <a:xfrm rot="5400000" flipH="1" flipV="1">
              <a:off x="8223822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2ECA7D87-C78C-C140-AA28-C0FB20209045}"/>
                </a:ext>
              </a:extLst>
            </p:cNvPr>
            <p:cNvSpPr/>
            <p:nvPr userDrawn="1"/>
          </p:nvSpPr>
          <p:spPr>
            <a:xfrm rot="16200000" flipV="1">
              <a:off x="7056329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6526"/>
            <a:ext cx="9779183" cy="1570038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67493" y="2084832"/>
            <a:ext cx="9779182" cy="3366813"/>
          </a:xfrm>
        </p:spPr>
        <p:txBody>
          <a:bodyPr>
            <a:noAutofit/>
          </a:bodyPr>
          <a:lstStyle>
            <a:lvl1pPr marL="0" indent="0">
              <a:buNone/>
              <a:defRPr>
                <a:latin typeface="+mn-lt"/>
              </a:defRPr>
            </a:lvl1pPr>
            <a:lvl2pPr marL="457200" indent="0">
              <a:buNone/>
              <a:defRPr>
                <a:latin typeface="+mn-lt"/>
              </a:defRPr>
            </a:lvl2pPr>
            <a:lvl3pPr marL="914400" indent="0">
              <a:buNone/>
              <a:defRPr>
                <a:latin typeface="+mn-lt"/>
              </a:defRPr>
            </a:lvl3pPr>
            <a:lvl4pPr marL="1371600" indent="0">
              <a:buNone/>
              <a:defRPr>
                <a:latin typeface="+mn-lt"/>
              </a:defRPr>
            </a:lvl4pPr>
            <a:lvl5pPr marL="1828800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0945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78AD52EA-B01E-8D38-D87A-BF7EB5B58A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1"/>
            <a:ext cx="12192001" cy="6864796"/>
            <a:chOff x="0" y="-1"/>
            <a:chExt cx="12192001" cy="686479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AC79249-FDC0-364D-A734-AE1DE1605D28}"/>
                </a:ext>
              </a:extLst>
            </p:cNvPr>
            <p:cNvSpPr/>
            <p:nvPr userDrawn="1"/>
          </p:nvSpPr>
          <p:spPr>
            <a:xfrm>
              <a:off x="8264426" y="0"/>
              <a:ext cx="3927574" cy="685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15FBB50-09C8-B64E-AE57-67C5E70810CB}"/>
                </a:ext>
              </a:extLst>
            </p:cNvPr>
            <p:cNvGrpSpPr/>
            <p:nvPr userDrawn="1"/>
          </p:nvGrpSpPr>
          <p:grpSpPr>
            <a:xfrm>
              <a:off x="8264427" y="3685939"/>
              <a:ext cx="3927573" cy="3178856"/>
              <a:chOff x="9857014" y="13834"/>
              <a:chExt cx="2334986" cy="1881641"/>
            </a:xfrm>
          </p:grpSpPr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C68F289-2744-2F48-893A-3F17911625C8}"/>
                </a:ext>
              </a:extLst>
            </p:cNvPr>
            <p:cNvSpPr/>
            <p:nvPr userDrawn="1"/>
          </p:nvSpPr>
          <p:spPr>
            <a:xfrm>
              <a:off x="0" y="-1"/>
              <a:ext cx="1167493" cy="1167493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39563C76-BC00-DE47-88F5-C24D3CE3325A}"/>
                </a:ext>
              </a:extLst>
            </p:cNvPr>
            <p:cNvSpPr/>
            <p:nvPr userDrawn="1"/>
          </p:nvSpPr>
          <p:spPr>
            <a:xfrm>
              <a:off x="10228214" y="-1"/>
              <a:ext cx="1963787" cy="3178856"/>
            </a:xfrm>
            <a:custGeom>
              <a:avLst/>
              <a:gdLst>
                <a:gd name="connsiteX0" fmla="*/ 0 w 1963787"/>
                <a:gd name="connsiteY0" fmla="*/ 0 h 3178856"/>
                <a:gd name="connsiteX1" fmla="*/ 1963787 w 1963787"/>
                <a:gd name="connsiteY1" fmla="*/ 0 h 3178856"/>
                <a:gd name="connsiteX2" fmla="*/ 1963787 w 1963787"/>
                <a:gd name="connsiteY2" fmla="*/ 1967129 h 3178856"/>
                <a:gd name="connsiteX3" fmla="*/ 1963787 w 1963787"/>
                <a:gd name="connsiteY3" fmla="*/ 2349671 h 3178856"/>
                <a:gd name="connsiteX4" fmla="*/ 1963787 w 1963787"/>
                <a:gd name="connsiteY4" fmla="*/ 3178856 h 3178856"/>
                <a:gd name="connsiteX5" fmla="*/ 1963753 w 1963787"/>
                <a:gd name="connsiteY5" fmla="*/ 3178856 h 3178856"/>
                <a:gd name="connsiteX6" fmla="*/ 1763002 w 1963787"/>
                <a:gd name="connsiteY6" fmla="*/ 3168629 h 3178856"/>
                <a:gd name="connsiteX7" fmla="*/ 0 w 1963787"/>
                <a:gd name="connsiteY7" fmla="*/ 1197921 h 3178856"/>
                <a:gd name="connsiteX8" fmla="*/ 0 w 1963787"/>
                <a:gd name="connsiteY8" fmla="*/ 1039961 h 3178856"/>
                <a:gd name="connsiteX9" fmla="*/ 0 w 1963787"/>
                <a:gd name="connsiteY9" fmla="*/ 0 h 3178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3787" h="3178856">
                  <a:moveTo>
                    <a:pt x="0" y="0"/>
                  </a:moveTo>
                  <a:lnTo>
                    <a:pt x="1963787" y="0"/>
                  </a:lnTo>
                  <a:lnTo>
                    <a:pt x="1963787" y="1967129"/>
                  </a:lnTo>
                  <a:lnTo>
                    <a:pt x="1963787" y="2349671"/>
                  </a:lnTo>
                  <a:lnTo>
                    <a:pt x="1963787" y="3178856"/>
                  </a:lnTo>
                  <a:lnTo>
                    <a:pt x="1963753" y="3178856"/>
                  </a:lnTo>
                  <a:lnTo>
                    <a:pt x="1763002" y="3168629"/>
                  </a:lnTo>
                  <a:cubicBezTo>
                    <a:pt x="772749" y="3067186"/>
                    <a:pt x="0" y="2223585"/>
                    <a:pt x="0" y="1197921"/>
                  </a:cubicBezTo>
                  <a:lnTo>
                    <a:pt x="0" y="1039961"/>
                  </a:lnTo>
                  <a:lnTo>
                    <a:pt x="0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4" y="252549"/>
            <a:ext cx="6220278" cy="3262811"/>
          </a:xfrm>
        </p:spPr>
        <p:txBody>
          <a:bodyPr anchor="b">
            <a:noAutofit/>
          </a:bodyPr>
          <a:lstStyle>
            <a:lvl1pPr algn="l">
              <a:defRPr sz="60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7493" y="3685939"/>
            <a:ext cx="6220277" cy="2919512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2800"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544706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77A09-15C2-4E47-948E-AACAFCA47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567522-C3B6-46EB-A361-BEC2510B0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tx2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C57CF0-034F-450D-937C-718D5AF1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678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tx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  <p:sldLayoutId id="2147483671" r:id="rId4"/>
    <p:sldLayoutId id="2147483659" r:id="rId5"/>
    <p:sldLayoutId id="2147483668" r:id="rId6"/>
    <p:sldLayoutId id="2147483669" r:id="rId7"/>
    <p:sldLayoutId id="2147483661" r:id="rId8"/>
    <p:sldLayoutId id="2147483666" r:id="rId9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7" pos="3960" userDrawn="1">
          <p15:clr>
            <a:srgbClr val="547EBF"/>
          </p15:clr>
        </p15:guide>
        <p15:guide id="8" pos="3720" userDrawn="1">
          <p15:clr>
            <a:srgbClr val="547EBF"/>
          </p15:clr>
        </p15:guide>
        <p15:guide id="9" pos="2112" userDrawn="1">
          <p15:clr>
            <a:srgbClr val="547EBF"/>
          </p15:clr>
        </p15:guide>
        <p15:guide id="10" pos="1848" userDrawn="1">
          <p15:clr>
            <a:srgbClr val="547EBF"/>
          </p15:clr>
        </p15:guide>
        <p15:guide id="11" pos="5568" userDrawn="1">
          <p15:clr>
            <a:srgbClr val="547EBF"/>
          </p15:clr>
        </p15:guide>
        <p15:guide id="12" pos="5832" userDrawn="1">
          <p15:clr>
            <a:srgbClr val="547EBF"/>
          </p15:clr>
        </p15:guide>
        <p15:guide id="13" pos="4968" userDrawn="1">
          <p15:clr>
            <a:srgbClr val="9FCC3B"/>
          </p15:clr>
        </p15:guide>
        <p15:guide id="14" pos="5208" userDrawn="1">
          <p15:clr>
            <a:srgbClr val="9FCC3B"/>
          </p15:clr>
        </p15:guide>
        <p15:guide id="15" pos="2712" userDrawn="1">
          <p15:clr>
            <a:srgbClr val="9FCC3B"/>
          </p15:clr>
        </p15:guide>
        <p15:guide id="16" pos="2472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F3D98-3C30-4CFC-8643-C81E829C8C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7493" y="232913"/>
            <a:ext cx="7096933" cy="3830130"/>
          </a:xfrm>
        </p:spPr>
        <p:txBody>
          <a:bodyPr/>
          <a:lstStyle/>
          <a:p>
            <a:r>
              <a:rPr lang="en-US" dirty="0"/>
              <a:t>SDS</a:t>
            </a:r>
          </a:p>
        </p:txBody>
      </p:sp>
    </p:spTree>
    <p:extLst>
      <p:ext uri="{BB962C8B-B14F-4D97-AF65-F5344CB8AC3E}">
        <p14:creationId xmlns:p14="http://schemas.microsoft.com/office/powerpoint/2010/main" val="2259308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DF434-28DB-4621-A497-D62C41CE0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864" y="102021"/>
            <a:ext cx="9779183" cy="1744415"/>
          </a:xfrm>
        </p:spPr>
        <p:txBody>
          <a:bodyPr/>
          <a:lstStyle/>
          <a:p>
            <a:r>
              <a:rPr lang="en-US" dirty="0"/>
              <a:t>Content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88C46-D0BC-4307-AE55-7601A139E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6409" y="2007635"/>
            <a:ext cx="9779182" cy="336681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Architecture Diagram</a:t>
            </a:r>
            <a:endParaRPr lang="en-US" sz="25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Class Diagram &amp;  Class Descriptions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Sequence diagrams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State Diagram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SOLID Principles &amp;  Design Patterns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b="1" dirty="0"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Tools </a:t>
            </a:r>
            <a:endParaRPr lang="en-US" sz="2500" b="1" dirty="0"/>
          </a:p>
        </p:txBody>
      </p:sp>
    </p:spTree>
    <p:extLst>
      <p:ext uri="{BB962C8B-B14F-4D97-AF65-F5344CB8AC3E}">
        <p14:creationId xmlns:p14="http://schemas.microsoft.com/office/powerpoint/2010/main" val="1325608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48DD4-4828-CE87-0C5C-42BE175E8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27" y="1597742"/>
            <a:ext cx="5486399" cy="639095"/>
          </a:xfrm>
        </p:spPr>
        <p:txBody>
          <a:bodyPr anchor="b">
            <a:normAutofit fontScale="90000"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Architecture</a:t>
            </a:r>
            <a:r>
              <a:rPr lang="en-US" dirty="0"/>
              <a:t> </a:t>
            </a:r>
            <a:r>
              <a:rPr lang="en-US" dirty="0">
                <a:effectLst/>
              </a:rPr>
              <a:t>Diagram</a:t>
            </a:r>
            <a:br>
              <a:rPr lang="en-US" dirty="0">
                <a:effectLst/>
              </a:rPr>
            </a:br>
            <a:r>
              <a:rPr lang="en-US" dirty="0">
                <a:effectLst/>
              </a:rPr>
              <a:t> </a:t>
            </a:r>
            <a:endParaRPr lang="en-US" dirty="0"/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EC8B1DE7-26CA-25E3-1BED-FB84AB9119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9731" y="464575"/>
            <a:ext cx="4728148" cy="5928850"/>
          </a:xfrm>
          <a:prstGeom prst="rect">
            <a:avLst/>
          </a:prstGeom>
          <a:noFill/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D5A140E-0C43-FFD5-5691-1244E5536E99}"/>
              </a:ext>
            </a:extLst>
          </p:cNvPr>
          <p:cNvSpPr txBox="1"/>
          <p:nvPr/>
        </p:nvSpPr>
        <p:spPr>
          <a:xfrm>
            <a:off x="245807" y="1917290"/>
            <a:ext cx="489646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Uses a </a:t>
            </a:r>
            <a:r>
              <a:rPr lang="en-US" b="1" dirty="0"/>
              <a:t>Layered (N-tier) architecture</a:t>
            </a:r>
            <a:r>
              <a:rPr lang="en-US" dirty="0"/>
              <a:t> to separate presentation, business logic, and data access layers.</a:t>
            </a:r>
            <a:br>
              <a:rPr lang="en-US" dirty="0"/>
            </a:br>
            <a:r>
              <a:rPr lang="en-US" dirty="0"/>
              <a:t>This structure improves </a:t>
            </a:r>
            <a:r>
              <a:rPr lang="en-US" b="1" dirty="0"/>
              <a:t>scalability</a:t>
            </a:r>
            <a:r>
              <a:rPr lang="en-US" dirty="0"/>
              <a:t>, </a:t>
            </a:r>
            <a:r>
              <a:rPr lang="en-US" b="1" dirty="0"/>
              <a:t>maintainability</a:t>
            </a:r>
            <a:r>
              <a:rPr lang="en-US" dirty="0"/>
              <a:t>, and </a:t>
            </a:r>
            <a:r>
              <a:rPr lang="en-US" b="1" dirty="0"/>
              <a:t>security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It supports integration with external services like bank APIs and e-wallets.</a:t>
            </a:r>
            <a:br>
              <a:rPr lang="en-US" dirty="0"/>
            </a:br>
            <a:r>
              <a:rPr lang="en-US" dirty="0"/>
              <a:t>Ideal for mobile/web apps backed by a cloud database.</a:t>
            </a:r>
          </a:p>
        </p:txBody>
      </p:sp>
    </p:spTree>
    <p:extLst>
      <p:ext uri="{BB962C8B-B14F-4D97-AF65-F5344CB8AC3E}">
        <p14:creationId xmlns:p14="http://schemas.microsoft.com/office/powerpoint/2010/main" val="36626771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48DD4-4828-CE87-0C5C-42BE175E8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50607"/>
            <a:ext cx="5919019" cy="941869"/>
          </a:xfrm>
        </p:spPr>
        <p:txBody>
          <a:bodyPr anchor="b">
            <a:norm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Class Diagram </a:t>
            </a:r>
            <a:endParaRPr lang="en-US" dirty="0"/>
          </a:p>
        </p:txBody>
      </p:sp>
      <p:pic>
        <p:nvPicPr>
          <p:cNvPr id="3" name="Picture 2" descr="A diagram of a company&#10;&#10;AI-generated content may be incorrect.">
            <a:extLst>
              <a:ext uri="{FF2B5EF4-FFF2-40B4-BE49-F238E27FC236}">
                <a16:creationId xmlns:a16="http://schemas.microsoft.com/office/drawing/2014/main" id="{76C382E3-FAAD-DA31-1FA3-A585B4F0A3B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9921" y="344671"/>
            <a:ext cx="6210300" cy="581469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30E7F23-8F2E-D42A-04B7-BE10108D1D85}"/>
              </a:ext>
            </a:extLst>
          </p:cNvPr>
          <p:cNvSpPr txBox="1"/>
          <p:nvPr/>
        </p:nvSpPr>
        <p:spPr>
          <a:xfrm>
            <a:off x="275304" y="2278992"/>
            <a:ext cx="422787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Defines core system classes such as User, </a:t>
            </a:r>
            <a:r>
              <a:rPr lang="en-US" dirty="0" err="1"/>
              <a:t>AuthManager</a:t>
            </a:r>
            <a:r>
              <a:rPr lang="en-US" dirty="0"/>
              <a:t>, and </a:t>
            </a:r>
            <a:r>
              <a:rPr lang="en-US" dirty="0" err="1"/>
              <a:t>BudgetManager.Each</a:t>
            </a:r>
            <a:r>
              <a:rPr lang="en-US" dirty="0"/>
              <a:t> class has clear responsibilities and many follow interface-based design (</a:t>
            </a:r>
            <a:r>
              <a:rPr lang="en-US" dirty="0" err="1"/>
              <a:t>IManager</a:t>
            </a:r>
            <a:r>
              <a:rPr lang="en-US" dirty="0"/>
              <a:t>).Supports reusability and extension with inheritance (e.g., </a:t>
            </a:r>
            <a:r>
              <a:rPr lang="en-US" dirty="0" err="1"/>
              <a:t>PayMethod</a:t>
            </a:r>
            <a:r>
              <a:rPr lang="en-US" dirty="0"/>
              <a:t>, </a:t>
            </a:r>
            <a:r>
              <a:rPr lang="en-US" dirty="0" err="1"/>
              <a:t>CreditCard</a:t>
            </a:r>
            <a:r>
              <a:rPr lang="en-US" dirty="0"/>
              <a:t>, </a:t>
            </a:r>
            <a:r>
              <a:rPr lang="en-US" dirty="0" err="1"/>
              <a:t>EWallet</a:t>
            </a:r>
            <a:r>
              <a:rPr lang="en-US" dirty="0"/>
              <a:t>).Enables organized, object-oriented structure for development.</a:t>
            </a:r>
          </a:p>
        </p:txBody>
      </p:sp>
    </p:spTree>
    <p:extLst>
      <p:ext uri="{BB962C8B-B14F-4D97-AF65-F5344CB8AC3E}">
        <p14:creationId xmlns:p14="http://schemas.microsoft.com/office/powerpoint/2010/main" val="3598521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4CFB73D-B7C9-A177-04F3-E48E841A8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69008"/>
            <a:ext cx="9779183" cy="1706563"/>
          </a:xfrm>
        </p:spPr>
        <p:txBody>
          <a:bodyPr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dirty="0"/>
              <a:t>Class Description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455C0B-19FB-954B-532A-0A68CAC4E0E4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1704934" y="0"/>
            <a:ext cx="487066" cy="234920"/>
          </a:xfrm>
        </p:spPr>
        <p:txBody>
          <a:bodyPr>
            <a:normAutofit fontScale="55000" lnSpcReduction="20000"/>
          </a:bodyPr>
          <a:lstStyle/>
          <a:p>
            <a:endParaRPr lang="en-US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1E9388AC-4AC9-A804-4AE1-FDC220EAE585}"/>
              </a:ext>
            </a:extLst>
          </p:cNvPr>
          <p:cNvSpPr>
            <a:spLocks noGrp="1" noChangeArrowheads="1"/>
          </p:cNvSpPr>
          <p:nvPr>
            <p:ph idx="12"/>
          </p:nvPr>
        </p:nvSpPr>
        <p:spPr bwMode="auto">
          <a:xfrm>
            <a:off x="994787" y="2397487"/>
            <a:ext cx="19658066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AuthManager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Handles user authentication and recovery emails.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User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Stores user-related runtime data.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Database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Central interface for data storage, updates, and retrieval.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IncomeManager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/ 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ExpenseManager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/ 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BudgetManager</a:t>
            </a:r>
            <a:r>
              <a:rPr lang="en-US" altLang="en-US" sz="1800" b="1" dirty="0">
                <a:latin typeface="Arial" panose="020B0604020202020204" pitchFamily="34" charset="0"/>
              </a:rPr>
              <a:t>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/ 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PayMethodManager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Manage user’s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dirty="0">
                <a:latin typeface="Arial" panose="020B0604020202020204" pitchFamily="34" charset="0"/>
              </a:rPr>
              <a:t>      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income, expenses, budgets, and payment methods (all implement a shared interface).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32396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4CFB73D-B7C9-A177-04F3-E48E841A8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69008"/>
            <a:ext cx="9779183" cy="1706563"/>
          </a:xfrm>
        </p:spPr>
        <p:txBody>
          <a:bodyPr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dirty="0"/>
              <a:t>Class Description – continued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455C0B-19FB-954B-532A-0A68CAC4E0E4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1704934" y="0"/>
            <a:ext cx="487066" cy="234920"/>
          </a:xfrm>
        </p:spPr>
        <p:txBody>
          <a:bodyPr>
            <a:normAutofit fontScale="55000" lnSpcReduction="20000"/>
          </a:bodyPr>
          <a:lstStyle/>
          <a:p>
            <a:endParaRPr lang="en-US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1E9388AC-4AC9-A804-4AE1-FDC220EAE585}"/>
              </a:ext>
            </a:extLst>
          </p:cNvPr>
          <p:cNvSpPr>
            <a:spLocks noGrp="1" noChangeArrowheads="1"/>
          </p:cNvSpPr>
          <p:nvPr>
            <p:ph idx="12"/>
          </p:nvPr>
        </p:nvSpPr>
        <p:spPr bwMode="auto">
          <a:xfrm>
            <a:off x="994787" y="2120488"/>
            <a:ext cx="19658066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AutoNum type="arabicPeriod" startAt="5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Goal – Tracks a user's personal financial target and constraints.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AutoNum type="arabicPeriod" startAt="5"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AutoNum type="arabicPeriod" startAt="6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Income / Budget – Store detailed income and budget data per user.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AutoNum type="arabicPeriod" startAt="6"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AutoNum type="arabicPeriod" startAt="7"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PayMethod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(Abstract) – Base class for user payment methods.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AutoNum type="arabicPeriod" startAt="7"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AutoNum type="arabicPeriod" startAt="8"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CreditCard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/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EWallet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Inherit from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PayMethod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adding card details or wallet phone number.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AutoNum type="arabicPeriod" startAt="8"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AutoNum type="arabicPeriod" startAt="9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Transaction – Logs a payment method’s transaction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details.Report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Generates performance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dirty="0">
                <a:latin typeface="Arial" panose="020B0604020202020204" pitchFamily="34" charset="0"/>
              </a:rPr>
              <a:t>       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insights for the user's budgeting behavior.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21028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FF5EE67-DE83-C00F-F31C-58A2B4623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45085"/>
            <a:ext cx="9779183" cy="1600835"/>
          </a:xfrm>
        </p:spPr>
        <p:txBody>
          <a:bodyPr/>
          <a:lstStyle/>
          <a:p>
            <a:r>
              <a:rPr lang="en-US" dirty="0"/>
              <a:t>Sequence Diagrams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B4F9D6E-63B9-28F7-4269-9D99545FFBA9}"/>
              </a:ext>
            </a:extLst>
          </p:cNvPr>
          <p:cNvSpPr>
            <a:spLocks noGrp="1" noChangeArrowheads="1"/>
          </p:cNvSpPr>
          <p:nvPr>
            <p:ph idx="14"/>
          </p:nvPr>
        </p:nvSpPr>
        <p:spPr bwMode="auto">
          <a:xfrm>
            <a:off x="980000" y="2992574"/>
            <a:ext cx="8351966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Illustrate interactions between system components for specific user stories.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Covers flows like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Sign Up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Login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Tracking Income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and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Budgeting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Helps visualize method calls between objects like 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AuthManager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and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Database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Ensures all user functionalities are mapped to system logic clearly.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We did user stories : 1,2,3,4,6,7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93387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48DD4-4828-CE87-0C5C-42BE175E8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50607"/>
            <a:ext cx="5919019" cy="941869"/>
          </a:xfrm>
        </p:spPr>
        <p:txBody>
          <a:bodyPr anchor="b">
            <a:normAutofit/>
          </a:bodyPr>
          <a:lstStyle/>
          <a:p>
            <a:r>
              <a:rPr lang="en-US" b="1" dirty="0"/>
              <a:t>State Diagram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0E7F23-8F2E-D42A-04B7-BE10108D1D85}"/>
              </a:ext>
            </a:extLst>
          </p:cNvPr>
          <p:cNvSpPr txBox="1"/>
          <p:nvPr/>
        </p:nvSpPr>
        <p:spPr>
          <a:xfrm>
            <a:off x="275304" y="2278992"/>
            <a:ext cx="422787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Focuses on the </a:t>
            </a:r>
            <a:r>
              <a:rPr lang="en-US" b="1" dirty="0"/>
              <a:t>User class</a:t>
            </a:r>
            <a:r>
              <a:rPr lang="en-US" dirty="0"/>
              <a:t>, showing states like logged in, editing profile, or managing budgets.</a:t>
            </a:r>
            <a:br>
              <a:rPr lang="en-US" dirty="0"/>
            </a:br>
            <a:r>
              <a:rPr lang="en-US" dirty="0"/>
              <a:t>Captures dynamic behavior and transitions based on user actions.</a:t>
            </a:r>
            <a:br>
              <a:rPr lang="en-US" dirty="0"/>
            </a:br>
            <a:r>
              <a:rPr lang="en-US" dirty="0"/>
              <a:t>Useful for understanding lifecycle and edge cases.</a:t>
            </a:r>
            <a:br>
              <a:rPr lang="en-US" dirty="0"/>
            </a:br>
            <a:r>
              <a:rPr lang="en-US" dirty="0"/>
              <a:t>Enhances system reliability through clear state management.</a:t>
            </a:r>
          </a:p>
        </p:txBody>
      </p:sp>
      <p:pic>
        <p:nvPicPr>
          <p:cNvPr id="4" name="Picture 3" descr="A diagram of a login&#10;&#10;AI-generated content may be incorrect.">
            <a:extLst>
              <a:ext uri="{FF2B5EF4-FFF2-40B4-BE49-F238E27FC236}">
                <a16:creationId xmlns:a16="http://schemas.microsoft.com/office/drawing/2014/main" id="{54B52DAB-09EF-386D-8C3F-6073F978FD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8398" y="1440857"/>
            <a:ext cx="6063615" cy="3693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60193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EDF9E134-98AA-3ECE-E40A-180C85ACD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136526"/>
            <a:ext cx="9601200" cy="1653371"/>
          </a:xfrm>
        </p:spPr>
        <p:txBody>
          <a:bodyPr/>
          <a:lstStyle/>
          <a:p>
            <a:r>
              <a:rPr lang="en-US" dirty="0"/>
              <a:t>SOLID Principles</a:t>
            </a: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18C8363-1151-CA2E-E25A-AAE513C9627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66813" y="2489815"/>
            <a:ext cx="9353703" cy="24006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Applies all five SOLID principles for clean and maintainable code.</a:t>
            </a:r>
            <a:b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Example: </a:t>
            </a:r>
            <a:r>
              <a:rPr kumimoji="0" lang="en-US" altLang="en-US" sz="25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AuthManager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follows </a:t>
            </a: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Single Responsibility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and </a:t>
            </a:r>
            <a:r>
              <a:rPr kumimoji="0" lang="en-US" altLang="en-US" sz="25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IManager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supports </a:t>
            </a: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Interface Segregation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b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Open/Closed principle 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 applied by extending without modifying existing classes.</a:t>
            </a:r>
            <a:b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Encourages modular, testable, and scalable design. </a:t>
            </a:r>
          </a:p>
        </p:txBody>
      </p:sp>
    </p:spTree>
    <p:extLst>
      <p:ext uri="{BB962C8B-B14F-4D97-AF65-F5344CB8AC3E}">
        <p14:creationId xmlns:p14="http://schemas.microsoft.com/office/powerpoint/2010/main" val="1265939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EDF9E134-98AA-3ECE-E40A-180C85ACD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136526"/>
            <a:ext cx="9601200" cy="1653371"/>
          </a:xfrm>
        </p:spPr>
        <p:txBody>
          <a:bodyPr/>
          <a:lstStyle/>
          <a:p>
            <a:r>
              <a:rPr lang="en-US" dirty="0"/>
              <a:t>Design Patterns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32D3B2-9041-250A-B758-072CFA39DFB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07871" y="2135854"/>
            <a:ext cx="10376258" cy="24006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Implements </a:t>
            </a: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Strategy Pattern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managers (</a:t>
            </a:r>
            <a:r>
              <a:rPr kumimoji="0" lang="en-US" altLang="en-US" sz="25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IncomeManager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sz="25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BudgetManager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etc.).</a:t>
            </a:r>
            <a:b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Factory Pattern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used for payment method creation (</a:t>
            </a:r>
            <a:r>
              <a:rPr kumimoji="0" lang="en-US" altLang="en-US" sz="25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CreditCard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sz="25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EWallet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).</a:t>
            </a:r>
            <a:b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Singleton Pattern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applied to the 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Database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class for global access.</a:t>
            </a:r>
            <a:b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These patterns improve flexibility, code reuse, and system consistency. </a:t>
            </a:r>
          </a:p>
        </p:txBody>
      </p:sp>
    </p:spTree>
    <p:extLst>
      <p:ext uri="{BB962C8B-B14F-4D97-AF65-F5344CB8AC3E}">
        <p14:creationId xmlns:p14="http://schemas.microsoft.com/office/powerpoint/2010/main" val="36435917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EDF9E134-98AA-3ECE-E40A-180C85ACD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136526"/>
            <a:ext cx="9601200" cy="1653371"/>
          </a:xfrm>
        </p:spPr>
        <p:txBody>
          <a:bodyPr/>
          <a:lstStyle/>
          <a:p>
            <a:r>
              <a:rPr lang="en-US" dirty="0"/>
              <a:t>Tools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32D3B2-9041-250A-B758-072CFA39DFB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07871" y="2520574"/>
            <a:ext cx="10376258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500" dirty="0"/>
              <a:t>Used </a:t>
            </a:r>
            <a:r>
              <a:rPr lang="en-US" sz="2500" b="1" dirty="0"/>
              <a:t>Draw.io</a:t>
            </a:r>
            <a:r>
              <a:rPr lang="en-US" sz="2500" dirty="0"/>
              <a:t> and </a:t>
            </a:r>
            <a:r>
              <a:rPr lang="en-US" sz="2500" b="1" dirty="0" err="1"/>
              <a:t>PlantUML</a:t>
            </a:r>
            <a:r>
              <a:rPr lang="en-US" sz="2500" dirty="0"/>
              <a:t> for diagrams and modeling.</a:t>
            </a:r>
            <a:br>
              <a:rPr lang="en-US" sz="2500" dirty="0"/>
            </a:br>
            <a:r>
              <a:rPr lang="en-US" sz="2500" dirty="0"/>
              <a:t>These tools ensure clear and professional visual documentation.</a:t>
            </a:r>
            <a:br>
              <a:rPr lang="en-US" sz="2500" dirty="0"/>
            </a:br>
            <a:r>
              <a:rPr lang="en-US" sz="2500" dirty="0"/>
              <a:t>Support team collaboration and iterative design.</a:t>
            </a:r>
            <a:br>
              <a:rPr lang="en-US" sz="2500" dirty="0"/>
            </a:br>
            <a:r>
              <a:rPr lang="en-US" sz="2500" dirty="0"/>
              <a:t>Helpful for maintaining a unified design standard throughout the project.</a:t>
            </a: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43522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EDF9E134-98AA-3ECE-E40A-180C85ACD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136526"/>
            <a:ext cx="9601200" cy="1653371"/>
          </a:xfrm>
        </p:spPr>
        <p:txBody>
          <a:bodyPr anchor="b">
            <a:normAutofit/>
          </a:bodyPr>
          <a:lstStyle/>
          <a:p>
            <a:r>
              <a:rPr lang="en-US" dirty="0"/>
              <a:t>Tools – continued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32D3B2-9041-250A-B758-072CFA39DFB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67493" y="2023984"/>
            <a:ext cx="4663440" cy="3332832"/>
          </a:xfr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en-US" err="1"/>
              <a:t>Githup</a:t>
            </a:r>
            <a:endParaRPr kumimoji="0" lang="en-US" altLang="en-US" b="0" i="0" u="none" strike="noStrike" cap="none" normalizeH="0" baseline="0">
              <a:ln>
                <a:noFill/>
              </a:ln>
              <a:effectLst/>
            </a:endParaRP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E270409B-6666-78FF-D1EC-9F263C86B4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5385" y="1789897"/>
            <a:ext cx="8213307" cy="461998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568327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1C753FD-96EC-101A-B8A4-5F69A189BE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7494" y="252549"/>
            <a:ext cx="6220278" cy="3262811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7BB04B7-47A4-741B-59E0-F0E6F2126E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67493" y="3685939"/>
            <a:ext cx="6220277" cy="2919512"/>
          </a:xfrm>
        </p:spPr>
        <p:txBody>
          <a:bodyPr/>
          <a:lstStyle/>
          <a:p>
            <a:r>
              <a:rPr lang="en-US" dirty="0"/>
              <a:t>Marawan mohamed </a:t>
            </a:r>
          </a:p>
          <a:p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Ziad Sabri</a:t>
            </a:r>
          </a:p>
          <a:p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Samir Sherif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673525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Universal Color Block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68FF"/>
      </a:accent1>
      <a:accent2>
        <a:srgbClr val="DAE5EF"/>
      </a:accent2>
      <a:accent3>
        <a:srgbClr val="637183"/>
      </a:accent3>
      <a:accent4>
        <a:srgbClr val="434E5E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75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45331398_Win32_SL_V13" id="{C59E605D-C281-4A06-BDA0-E97A35AC3AA8}" vid="{25D1D206-DA25-4050-926A-BD6D3A1B506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45A8381C-73EB-48EA-B45F-7B7C8C7DF40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AA6A711-2C3F-4EC0-B88B-62D74085117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1E98C35-9ECE-4425-BCBA-00E118C705CE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{4CCA687A-E689-4291-9319-C0DF8F0B47FE}tf45331398_win32</Template>
  <TotalTime>86</TotalTime>
  <Words>547</Words>
  <Application>Microsoft Office PowerPoint</Application>
  <PresentationFormat>Widescreen</PresentationFormat>
  <Paragraphs>62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Arial Unicode MS</vt:lpstr>
      <vt:lpstr>Calibri</vt:lpstr>
      <vt:lpstr>Tenorite</vt:lpstr>
      <vt:lpstr>Custom</vt:lpstr>
      <vt:lpstr>SDS</vt:lpstr>
      <vt:lpstr>Content </vt:lpstr>
      <vt:lpstr>Architecture Diagram  </vt:lpstr>
      <vt:lpstr>Class Diagram </vt:lpstr>
      <vt:lpstr>Class Description </vt:lpstr>
      <vt:lpstr>Class Description – continued </vt:lpstr>
      <vt:lpstr>Sequence Diagrams</vt:lpstr>
      <vt:lpstr>State Diagram</vt:lpstr>
      <vt:lpstr>SOLID Principles</vt:lpstr>
      <vt:lpstr>Design Patterns</vt:lpstr>
      <vt:lpstr>Tools </vt:lpstr>
      <vt:lpstr>Tools – continued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SDS</dc:title>
  <dc:creator>marawan mohamed</dc:creator>
  <cp:lastModifiedBy>marawan mohamed</cp:lastModifiedBy>
  <cp:revision>1</cp:revision>
  <dcterms:created xsi:type="dcterms:W3CDTF">2025-05-10T17:34:39Z</dcterms:created>
  <dcterms:modified xsi:type="dcterms:W3CDTF">2025-05-10T19:01:27Z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