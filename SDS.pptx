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86" r:id="rId7"/>
    <p:sldId id="299" r:id="rId8"/>
    <p:sldId id="303" r:id="rId9"/>
    <p:sldId id="291" r:id="rId10"/>
    <p:sldId id="289" r:id="rId11"/>
    <p:sldId id="300" r:id="rId12"/>
    <p:sldId id="290" r:id="rId13"/>
    <p:sldId id="301" r:id="rId14"/>
    <p:sldId id="302" r:id="rId15"/>
    <p:sldId id="304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6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298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12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404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221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12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SDS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Content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409" y="2007635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Architecture Diagram</a:t>
            </a:r>
            <a:endParaRPr lang="en-US" sz="25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 Diagram &amp;  Class Descriptions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Sequence diagrams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State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SOLID Principles &amp;  Design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Tools 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" y="1597742"/>
            <a:ext cx="5486399" cy="639095"/>
          </a:xfrm>
        </p:spPr>
        <p:txBody>
          <a:bodyPr anchor="b"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Architecture</a:t>
            </a:r>
            <a:r>
              <a:rPr lang="en-US" dirty="0"/>
              <a:t> </a:t>
            </a:r>
            <a:r>
              <a:rPr lang="en-US" dirty="0">
                <a:effectLst/>
              </a:rPr>
              <a:t>Diagram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 </a:t>
            </a: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C8B1DE7-26CA-25E3-1BED-FB84AB911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731" y="464575"/>
            <a:ext cx="4728148" cy="5928850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5A140E-0C43-FFD5-5691-1244E5536E99}"/>
              </a:ext>
            </a:extLst>
          </p:cNvPr>
          <p:cNvSpPr txBox="1"/>
          <p:nvPr/>
        </p:nvSpPr>
        <p:spPr>
          <a:xfrm>
            <a:off x="245807" y="1917290"/>
            <a:ext cx="4896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Uses a </a:t>
            </a:r>
            <a:r>
              <a:rPr lang="en-US" b="1" dirty="0"/>
              <a:t>Layered (N-tier) architecture</a:t>
            </a:r>
            <a:r>
              <a:rPr lang="en-US" dirty="0"/>
              <a:t> to separate presentation, business logic, and data access layers.</a:t>
            </a:r>
            <a:br>
              <a:rPr lang="en-US" dirty="0"/>
            </a:br>
            <a:r>
              <a:rPr lang="en-US" dirty="0"/>
              <a:t>This structure improves </a:t>
            </a:r>
            <a:r>
              <a:rPr lang="en-US" b="1" dirty="0"/>
              <a:t>scalability</a:t>
            </a:r>
            <a:r>
              <a:rPr lang="en-US" dirty="0"/>
              <a:t>, </a:t>
            </a:r>
            <a:r>
              <a:rPr lang="en-US" b="1" dirty="0"/>
              <a:t>maintainability</a:t>
            </a:r>
            <a:r>
              <a:rPr lang="en-US" dirty="0"/>
              <a:t>, and </a:t>
            </a:r>
            <a:r>
              <a:rPr lang="en-US" b="1" dirty="0"/>
              <a:t>security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supports integration with external services like bank APIs and e-wallets.</a:t>
            </a:r>
            <a:br>
              <a:rPr lang="en-US" dirty="0"/>
            </a:br>
            <a:r>
              <a:rPr lang="en-US" dirty="0"/>
              <a:t>Ideal for mobile/web apps backed by a cloud database.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607"/>
            <a:ext cx="5919019" cy="941869"/>
          </a:xfrm>
        </p:spPr>
        <p:txBody>
          <a:bodyPr anchor="b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Class Diagram </a:t>
            </a:r>
            <a:endParaRPr lang="en-US" dirty="0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76C382E3-FAAD-DA31-1FA3-A585B4F0A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921" y="344671"/>
            <a:ext cx="6210300" cy="5814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0E7F23-8F2E-D42A-04B7-BE10108D1D85}"/>
              </a:ext>
            </a:extLst>
          </p:cNvPr>
          <p:cNvSpPr txBox="1"/>
          <p:nvPr/>
        </p:nvSpPr>
        <p:spPr>
          <a:xfrm>
            <a:off x="275304" y="2278992"/>
            <a:ext cx="42278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Defines core system classes such as User, </a:t>
            </a:r>
            <a:r>
              <a:rPr lang="en-US" dirty="0" err="1"/>
              <a:t>AuthManager</a:t>
            </a:r>
            <a:r>
              <a:rPr lang="en-US" dirty="0"/>
              <a:t>, and </a:t>
            </a:r>
            <a:r>
              <a:rPr lang="en-US" dirty="0" err="1"/>
              <a:t>BudgetManager.Each</a:t>
            </a:r>
            <a:r>
              <a:rPr lang="en-US" dirty="0"/>
              <a:t> class has clear responsibilities and many follow interface-based design (</a:t>
            </a:r>
            <a:r>
              <a:rPr lang="en-US" dirty="0" err="1"/>
              <a:t>IManager</a:t>
            </a:r>
            <a:r>
              <a:rPr lang="en-US" dirty="0"/>
              <a:t>).Supports reusability and extension with inheritance (e.g., </a:t>
            </a:r>
            <a:r>
              <a:rPr lang="en-US" dirty="0" err="1"/>
              <a:t>PayMethod</a:t>
            </a:r>
            <a:r>
              <a:rPr lang="en-US" dirty="0"/>
              <a:t>, </a:t>
            </a:r>
            <a:r>
              <a:rPr lang="en-US" dirty="0" err="1"/>
              <a:t>CreditCard</a:t>
            </a:r>
            <a:r>
              <a:rPr lang="en-US" dirty="0"/>
              <a:t>, </a:t>
            </a:r>
            <a:r>
              <a:rPr lang="en-US" dirty="0" err="1"/>
              <a:t>EWallet</a:t>
            </a:r>
            <a:r>
              <a:rPr lang="en-US" dirty="0"/>
              <a:t>).Enables organized, object-oriented structure for development.</a:t>
            </a:r>
          </a:p>
        </p:txBody>
      </p:sp>
    </p:spTree>
    <p:extLst>
      <p:ext uri="{BB962C8B-B14F-4D97-AF65-F5344CB8AC3E}">
        <p14:creationId xmlns:p14="http://schemas.microsoft.com/office/powerpoint/2010/main" val="359852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Class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704934" y="0"/>
            <a:ext cx="487066" cy="234920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9388AC-4AC9-A804-4AE1-FDC220EAE585}"/>
              </a:ext>
            </a:extLst>
          </p:cNvPr>
          <p:cNvSpPr>
            <a:spLocks noGrp="1" noChangeArrowheads="1"/>
          </p:cNvSpPr>
          <p:nvPr>
            <p:ph idx="12"/>
          </p:nvPr>
        </p:nvSpPr>
        <p:spPr bwMode="auto">
          <a:xfrm>
            <a:off x="994787" y="2397487"/>
            <a:ext cx="196580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AuthManager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Handles user authentication and recovery emails.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Stores user-related runtime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Central interface for data storage, updates, and retrieval.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IncomeManager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ExpenseManager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BudgetManager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PayMethodManager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Manage user’s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income, expenses, budgets, and payment methods (all implement a shared interface).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23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Class Description – continued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704934" y="0"/>
            <a:ext cx="487066" cy="234920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9388AC-4AC9-A804-4AE1-FDC220EAE585}"/>
              </a:ext>
            </a:extLst>
          </p:cNvPr>
          <p:cNvSpPr>
            <a:spLocks noGrp="1" noChangeArrowheads="1"/>
          </p:cNvSpPr>
          <p:nvPr>
            <p:ph idx="12"/>
          </p:nvPr>
        </p:nvSpPr>
        <p:spPr bwMode="auto">
          <a:xfrm>
            <a:off x="994787" y="2120488"/>
            <a:ext cx="1965806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5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 – Tracks a user's personal financial target and constraints.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5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6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Income / Budget – Store detailed income and budget data per user.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6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7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PayMethod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(Abstract) – Base class for user payment methods.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7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8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CreditCard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EWallet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Inherit 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PayMethod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adding card details or wallet phone number.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8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 startAt="9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Transaction – Logs a payment method’s transaction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details.Report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Generates performance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insights for the user's budgeting behavior.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Sequence Diagrams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4F9D6E-63B9-28F7-4269-9D99545FFBA9}"/>
              </a:ext>
            </a:extLst>
          </p:cNvPr>
          <p:cNvSpPr>
            <a:spLocks noGrp="1" noChangeArrowheads="1"/>
          </p:cNvSpPr>
          <p:nvPr>
            <p:ph idx="14"/>
          </p:nvPr>
        </p:nvSpPr>
        <p:spPr bwMode="auto">
          <a:xfrm>
            <a:off x="980000" y="2992574"/>
            <a:ext cx="835196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Illustrate interactions between system components for specific user stories.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flows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 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 Income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visualize method calls between objects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AuthManager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all user functionalities are mapped to system logic clearly.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We did user stories : 1,2,3,4,6,7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607"/>
            <a:ext cx="5919019" cy="941869"/>
          </a:xfrm>
        </p:spPr>
        <p:txBody>
          <a:bodyPr anchor="b">
            <a:normAutofit/>
          </a:bodyPr>
          <a:lstStyle/>
          <a:p>
            <a:r>
              <a:rPr lang="en-US" b="1" dirty="0"/>
              <a:t>State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E7F23-8F2E-D42A-04B7-BE10108D1D85}"/>
              </a:ext>
            </a:extLst>
          </p:cNvPr>
          <p:cNvSpPr txBox="1"/>
          <p:nvPr/>
        </p:nvSpPr>
        <p:spPr>
          <a:xfrm>
            <a:off x="275304" y="2278992"/>
            <a:ext cx="42278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Focuses on the </a:t>
            </a:r>
            <a:r>
              <a:rPr lang="en-US" b="1" dirty="0"/>
              <a:t>User class</a:t>
            </a:r>
            <a:r>
              <a:rPr lang="en-US" dirty="0"/>
              <a:t>, showing states like logged in, editing profile, or managing budgets.</a:t>
            </a:r>
            <a:br>
              <a:rPr lang="en-US" dirty="0"/>
            </a:br>
            <a:r>
              <a:rPr lang="en-US" dirty="0"/>
              <a:t>Captures dynamic behavior and transitions based on user actions.</a:t>
            </a:r>
            <a:br>
              <a:rPr lang="en-US" dirty="0"/>
            </a:br>
            <a:r>
              <a:rPr lang="en-US" dirty="0"/>
              <a:t>Useful for understanding lifecycle and edge cases.</a:t>
            </a:r>
            <a:br>
              <a:rPr lang="en-US" dirty="0"/>
            </a:br>
            <a:r>
              <a:rPr lang="en-US" dirty="0"/>
              <a:t>Enhances system reliability through clear state management.</a:t>
            </a:r>
          </a:p>
        </p:txBody>
      </p:sp>
      <p:pic>
        <p:nvPicPr>
          <p:cNvPr id="4" name="Picture 3" descr="A diagram of a login&#10;&#10;AI-generated content may be incorrect.">
            <a:extLst>
              <a:ext uri="{FF2B5EF4-FFF2-40B4-BE49-F238E27FC236}">
                <a16:creationId xmlns:a16="http://schemas.microsoft.com/office/drawing/2014/main" id="{54B52DAB-09EF-386D-8C3F-6073F978F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398" y="1440857"/>
            <a:ext cx="6063615" cy="369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1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SOLID Principles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18C8363-1151-CA2E-E25A-AAE513C962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6813" y="2489815"/>
            <a:ext cx="9353703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all five SOLID principles for clean and maintainable code.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AuthManager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follows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Single Responsibility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IManager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supports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Interface Segregation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Open/Closed principle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applied by extending without modifying existing classes.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modular, testable, and scalable design. 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2D3B2-9041-250A-B758-072CFA39D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7871" y="2135854"/>
            <a:ext cx="1037625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Strategy Pattern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managers (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IncomeManager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BudgetManager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etc.).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Factory Pattern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for payment method creation (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CreditCard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EWallet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Singleton Pattern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applied to the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Database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class for global access.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patterns improve flexibility, code reuse, and system consistency. </a:t>
            </a:r>
          </a:p>
        </p:txBody>
      </p:sp>
    </p:spTree>
    <p:extLst>
      <p:ext uri="{BB962C8B-B14F-4D97-AF65-F5344CB8AC3E}">
        <p14:creationId xmlns:p14="http://schemas.microsoft.com/office/powerpoint/2010/main" val="3643591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Tools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2D3B2-9041-250A-B758-072CFA39D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7871" y="2520574"/>
            <a:ext cx="1037625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500" dirty="0"/>
              <a:t>Used </a:t>
            </a:r>
            <a:r>
              <a:rPr lang="en-US" sz="2500" b="1" dirty="0"/>
              <a:t>Draw.io</a:t>
            </a:r>
            <a:r>
              <a:rPr lang="en-US" sz="2500" dirty="0"/>
              <a:t> and </a:t>
            </a:r>
            <a:r>
              <a:rPr lang="en-US" sz="2500" b="1" dirty="0" err="1"/>
              <a:t>PlantUML</a:t>
            </a:r>
            <a:r>
              <a:rPr lang="en-US" sz="2500" dirty="0"/>
              <a:t> for diagrams and modeling.</a:t>
            </a:r>
            <a:br>
              <a:rPr lang="en-US" sz="2500" dirty="0"/>
            </a:br>
            <a:r>
              <a:rPr lang="en-US" sz="2500" dirty="0"/>
              <a:t>These tools ensure clear and professional visual documentation.</a:t>
            </a:r>
            <a:br>
              <a:rPr lang="en-US" sz="2500" dirty="0"/>
            </a:br>
            <a:r>
              <a:rPr lang="en-US" sz="2500" dirty="0"/>
              <a:t>Support team collaboration and iterative design.</a:t>
            </a:r>
            <a:br>
              <a:rPr lang="en-US" sz="2500" dirty="0"/>
            </a:br>
            <a:r>
              <a:rPr lang="en-US" sz="2500" dirty="0"/>
              <a:t>Helpful for maintaining a unified design standard throughout the project.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5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anchor="b">
            <a:normAutofit/>
          </a:bodyPr>
          <a:lstStyle/>
          <a:p>
            <a:r>
              <a:rPr lang="en-US" dirty="0"/>
              <a:t>Tools – continued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2D3B2-9041-250A-B758-072CFA39D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493" y="2023984"/>
            <a:ext cx="4663440" cy="33328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dirty="0" err="1"/>
              <a:t>Github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270409B-6666-78FF-D1EC-9F263C86B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385" y="1789897"/>
            <a:ext cx="8213307" cy="4619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8327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/>
              <a:t>Marawan mohamed 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Ziad Sabri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Samir Sherif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{4CCA687A-E689-4291-9319-C0DF8F0B47FE}tf45331398_win32</Template>
  <TotalTime>92</TotalTime>
  <Words>547</Words>
  <Application>Microsoft Office PowerPoint</Application>
  <PresentationFormat>Widescreen</PresentationFormat>
  <Paragraphs>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Calibri</vt:lpstr>
      <vt:lpstr>Tenorite</vt:lpstr>
      <vt:lpstr>Custom</vt:lpstr>
      <vt:lpstr>SDS</vt:lpstr>
      <vt:lpstr>Content </vt:lpstr>
      <vt:lpstr>Architecture Diagram  </vt:lpstr>
      <vt:lpstr>Class Diagram </vt:lpstr>
      <vt:lpstr>Class Description </vt:lpstr>
      <vt:lpstr>Class Description – continued </vt:lpstr>
      <vt:lpstr>Sequence Diagrams</vt:lpstr>
      <vt:lpstr>State Diagram</vt:lpstr>
      <vt:lpstr>SOLID Principles</vt:lpstr>
      <vt:lpstr>Design Patterns</vt:lpstr>
      <vt:lpstr>Tools </vt:lpstr>
      <vt:lpstr>Tools – continued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SDS</dc:title>
  <dc:creator>marawan mohamed</dc:creator>
  <cp:lastModifiedBy>marawan mohamed</cp:lastModifiedBy>
  <cp:revision>2</cp:revision>
  <dcterms:created xsi:type="dcterms:W3CDTF">2025-05-10T17:34:39Z</dcterms:created>
  <dcterms:modified xsi:type="dcterms:W3CDTF">2025-05-10T19:07:07Z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